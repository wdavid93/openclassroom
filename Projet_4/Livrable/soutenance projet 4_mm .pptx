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slide21.xml" ContentType="application/vnd.openxmlformats-officedocument.presentationml.slide+xml"/>
  <Override PartName="/ppt/media/image1.png" ContentType="image/png"/>
  <Override PartName="/ppt/media/image2.png" ContentType="image/png"/>
  <Override PartName="/ppt/media/image3.jpeg" ContentType="image/jpeg"/>
  <Override PartName="/ppt/media/image11.png" ContentType="image/png"/>
  <Override PartName="/ppt/media/image6.png" ContentType="image/png"/>
  <Override PartName="/ppt/media/image31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32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C9CF79-0D5D-4CA7-8C5A-E53C7EE35C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100D76-872F-40D0-8B8D-FE4E086D20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863892-6380-45B4-AAE1-7C71309A1B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49C0E4-68BA-40D6-B594-0A6883E447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3E88CB-B7DB-42E7-93A7-21D16C0E35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521295-6008-453B-9E45-25433E74D9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907309-A27D-401E-9FC5-0A0FF52C3C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949F2A-2438-489D-AE02-52DE44A60B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27C8A9-3889-4528-B088-4F1F882D62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746BFB-C877-4422-968A-0D1A629FD9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68E14E-BBA1-4840-B543-9A2E8C4DE3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46223B-85E1-41C6-ACE1-33CF16C1CE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23E672-2A45-44B4-A08A-18EA5EBD63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00BC207-17BE-485B-BADA-1B446127F1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F44F59-40D7-4C41-A59C-10D8316173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582D0C-DE1D-48FB-85DA-E4DB9F51C4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320410-27B1-4074-BCBB-753A470BB3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800F62-A506-4BAF-8537-8291B9D05A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10F0AE-2A2F-43EF-8FF9-CB2D0A05BB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C3DC06-650F-48A9-BB9C-BC414A817C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7D0571-53C7-4716-8686-99B2A74843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EA6560-B3A0-46E8-9CC7-0A84135D31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DCD32F-7600-419D-9175-061572CB7F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CE9359-9390-4B74-9242-6F516CD9A0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52F809-8AEE-4441-B47D-DEC6116815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A392F70-74B6-4D0F-9E50-D937575605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F84A65C-623E-411E-9E4C-90C0AEC752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27625C1-2546-40CC-BAD5-6E22DB0B75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2B9B0E6-C7C2-4A05-9A2C-DA322CD7A7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D13A370-22B6-4AF9-8552-9A22E74781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800A780-CB3B-4E1B-BC69-3910919AC6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929842-25A9-4726-A002-6DD6A34C7B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C63861-2533-47C7-8251-7031DE82EC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B75FC51-5617-464D-964F-C2A10BA19A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418BA5-DA4A-4AA0-ACC4-08FBE1557A8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785150F-CFB6-4A73-865E-5A24336663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C40A16B-7393-4DAA-AC47-7EEDFF2878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7964B5B-2AE9-40A3-9766-61BBE3CA89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4A66D5F-5319-47C5-836A-FEF1A53105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7E58DB5-3B8C-4E8F-B61D-B47A1C4639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1CDFC1D-5994-4E6A-AE70-134C5C3F81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457200" y="22788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30DAD40-C03D-42A6-BE57-C0E96D2AF2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AA26CB1-7196-454F-B40A-0D7C60A110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F70929-7B6D-4F30-BA87-9380A00F8A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EA256EC-01E2-4D8B-859A-71CBFE8A3E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57200" y="30682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C6ADFD4-23C7-49CD-B28C-0918A1E34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4674240" y="133704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5720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4674240" y="30682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16B7DDD-5A86-47FD-BC88-AC66BDF168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323964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6022080" y="133704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45720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323964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6022080" y="30682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52D60D9-DD5E-4FC2-A467-807616D53A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 hidden="1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bg object 16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bg object 17"/>
          <p:cNvSpPr/>
          <p:nvPr/>
        </p:nvSpPr>
        <p:spPr>
          <a:xfrm>
            <a:off x="685800" y="2832120"/>
            <a:ext cx="7846560" cy="360"/>
          </a:xfrm>
          <a:custGeom>
            <a:avLst/>
            <a:gdLst>
              <a:gd name="textAreaLeft" fmla="*/ 0 w 7846560"/>
              <a:gd name="textAreaRight" fmla="*/ 7848720 w 7846560"/>
              <a:gd name="textAreaTop" fmla="*/ 0 h 360"/>
              <a:gd name="textAreaBottom" fmla="*/ 11520 h 360"/>
            </a:gdLst>
            <a:ahLst/>
            <a:rect l="textAreaLeft" t="textAreaTop" r="textAreaRight" b="textAreaBottom"/>
            <a:pathLst>
              <a:path w="7848600" h="1269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d252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ftr" idx="1"/>
          </p:nvPr>
        </p:nvSpPr>
        <p:spPr>
          <a:xfrm>
            <a:off x="3108960" y="531504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658368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86E5FD-7D05-45C0-BD7B-468BB7C4CD7A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3"/>
          </p:nvPr>
        </p:nvSpPr>
        <p:spPr>
          <a:xfrm>
            <a:off x="45720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 object 16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3108960" y="531504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658368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D3AF07-C4EB-461B-A1D0-17692E4ECE10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45720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g object 16" hidden="1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bg object 16"/>
          <p:cNvSpPr/>
          <p:nvPr/>
        </p:nvSpPr>
        <p:spPr>
          <a:xfrm>
            <a:off x="0" y="374400"/>
            <a:ext cx="9141840" cy="533880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5338800"/>
              <a:gd name="textAreaBottom" fmla="*/ 5340960 h 5338800"/>
            </a:gdLst>
            <a:ahLst/>
            <a:rect l="textAreaLeft" t="textAreaTop" r="textAreaRight" b="textAreaBottom"/>
            <a:pathLst>
              <a:path w="9144000" h="5340985">
                <a:moveTo>
                  <a:pt x="0" y="5340476"/>
                </a:moveTo>
                <a:lnTo>
                  <a:pt x="9144000" y="5340476"/>
                </a:lnTo>
                <a:lnTo>
                  <a:pt x="9144000" y="0"/>
                </a:lnTo>
                <a:lnTo>
                  <a:pt x="0" y="0"/>
                </a:lnTo>
                <a:lnTo>
                  <a:pt x="0" y="5340476"/>
                </a:lnTo>
                <a:close/>
              </a:path>
            </a:pathLst>
          </a:custGeom>
          <a:solidFill>
            <a:srgbClr val="d25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bg object 17"/>
          <p:cNvSpPr/>
          <p:nvPr/>
        </p:nvSpPr>
        <p:spPr>
          <a:xfrm>
            <a:off x="0" y="304920"/>
            <a:ext cx="9141840" cy="6768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67680"/>
              <a:gd name="textAreaBottom" fmla="*/ 69840 h 67680"/>
            </a:gdLst>
            <a:ahLst/>
            <a:rect l="textAreaLeft" t="textAreaTop" r="textAreaRight" b="textAreaBottom"/>
            <a:pathLst>
              <a:path w="9144000" h="69850">
                <a:moveTo>
                  <a:pt x="0" y="69723"/>
                </a:moveTo>
                <a:lnTo>
                  <a:pt x="9144000" y="69723"/>
                </a:lnTo>
                <a:lnTo>
                  <a:pt x="9144000" y="0"/>
                </a:lnTo>
                <a:lnTo>
                  <a:pt x="0" y="0"/>
                </a:lnTo>
                <a:lnTo>
                  <a:pt x="0" y="697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bg object 18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bg object 19"/>
          <p:cNvSpPr/>
          <p:nvPr/>
        </p:nvSpPr>
        <p:spPr>
          <a:xfrm>
            <a:off x="731520" y="3832920"/>
            <a:ext cx="7846560" cy="360"/>
          </a:xfrm>
          <a:custGeom>
            <a:avLst/>
            <a:gdLst>
              <a:gd name="textAreaLeft" fmla="*/ 0 w 7846560"/>
              <a:gd name="textAreaRight" fmla="*/ 7848720 w 7846560"/>
              <a:gd name="textAreaTop" fmla="*/ 0 h 360"/>
              <a:gd name="textAreaBottom" fmla="*/ 11520 h 360"/>
            </a:gdLst>
            <a:ahLst/>
            <a:rect l="textAreaLeft" t="textAreaTop" r="textAreaRight" b="textAreaBottom"/>
            <a:pathLst>
              <a:path w="7848600" h="1270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f3f1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ftr" idx="7"/>
          </p:nvPr>
        </p:nvSpPr>
        <p:spPr>
          <a:xfrm>
            <a:off x="3108960" y="531504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8"/>
          </p:nvPr>
        </p:nvSpPr>
        <p:spPr>
          <a:xfrm>
            <a:off x="658368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98613C-96FE-4830-8A47-82BF22C1C350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9"/>
          </p:nvPr>
        </p:nvSpPr>
        <p:spPr>
          <a:xfrm>
            <a:off x="45720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bg object 16" hidden="1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bg object 16"/>
          <p:cNvSpPr/>
          <p:nvPr/>
        </p:nvSpPr>
        <p:spPr>
          <a:xfrm>
            <a:off x="0" y="374400"/>
            <a:ext cx="9141840" cy="533880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5338800"/>
              <a:gd name="textAreaBottom" fmla="*/ 5340960 h 5338800"/>
            </a:gdLst>
            <a:ahLst/>
            <a:rect l="textAreaLeft" t="textAreaTop" r="textAreaRight" b="textAreaBottom"/>
            <a:pathLst>
              <a:path w="9144000" h="5340985">
                <a:moveTo>
                  <a:pt x="0" y="5340476"/>
                </a:moveTo>
                <a:lnTo>
                  <a:pt x="9144000" y="5340476"/>
                </a:lnTo>
                <a:lnTo>
                  <a:pt x="9144000" y="0"/>
                </a:lnTo>
                <a:lnTo>
                  <a:pt x="0" y="0"/>
                </a:lnTo>
                <a:lnTo>
                  <a:pt x="0" y="5340476"/>
                </a:lnTo>
                <a:close/>
              </a:path>
            </a:pathLst>
          </a:custGeom>
          <a:solidFill>
            <a:srgbClr val="d25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bg object 17"/>
          <p:cNvSpPr/>
          <p:nvPr/>
        </p:nvSpPr>
        <p:spPr>
          <a:xfrm>
            <a:off x="0" y="304920"/>
            <a:ext cx="9141840" cy="6768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67680"/>
              <a:gd name="textAreaBottom" fmla="*/ 69840 h 67680"/>
            </a:gdLst>
            <a:ahLst/>
            <a:rect l="textAreaLeft" t="textAreaTop" r="textAreaRight" b="textAreaBottom"/>
            <a:pathLst>
              <a:path w="9144000" h="69850">
                <a:moveTo>
                  <a:pt x="0" y="69723"/>
                </a:moveTo>
                <a:lnTo>
                  <a:pt x="9144000" y="69723"/>
                </a:lnTo>
                <a:lnTo>
                  <a:pt x="9144000" y="0"/>
                </a:lnTo>
                <a:lnTo>
                  <a:pt x="0" y="0"/>
                </a:lnTo>
                <a:lnTo>
                  <a:pt x="0" y="697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bg object 18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bg object 19"/>
          <p:cNvSpPr/>
          <p:nvPr/>
        </p:nvSpPr>
        <p:spPr>
          <a:xfrm>
            <a:off x="731520" y="3832920"/>
            <a:ext cx="7846560" cy="360"/>
          </a:xfrm>
          <a:custGeom>
            <a:avLst/>
            <a:gdLst>
              <a:gd name="textAreaLeft" fmla="*/ 0 w 7846560"/>
              <a:gd name="textAreaRight" fmla="*/ 7848720 w 7846560"/>
              <a:gd name="textAreaTop" fmla="*/ 0 h 360"/>
              <a:gd name="textAreaBottom" fmla="*/ 11520 h 360"/>
            </a:gdLst>
            <a:ahLst/>
            <a:rect l="textAreaLeft" t="textAreaTop" r="textAreaRight" b="textAreaBottom"/>
            <a:pathLst>
              <a:path w="7848600" h="1270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f3f1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ftr" idx="10"/>
          </p:nvPr>
        </p:nvSpPr>
        <p:spPr>
          <a:xfrm>
            <a:off x="3108960" y="531504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11"/>
          </p:nvPr>
        </p:nvSpPr>
        <p:spPr>
          <a:xfrm>
            <a:off x="658368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871438-0BE5-4C90-950B-B1D01B775D36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12"/>
          </p:nvPr>
        </p:nvSpPr>
        <p:spPr>
          <a:xfrm>
            <a:off x="457200" y="531504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2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1.png"/><Relationship Id="rId16" Type="http://schemas.openxmlformats.org/officeDocument/2006/relationships/image" Target="../media/image28.png"/><Relationship Id="rId17" Type="http://schemas.openxmlformats.org/officeDocument/2006/relationships/image" Target="../media/image21.png"/><Relationship Id="rId18" Type="http://schemas.openxmlformats.org/officeDocument/2006/relationships/image" Target="../media/image25.png"/><Relationship Id="rId19" Type="http://schemas.openxmlformats.org/officeDocument/2006/relationships/image" Target="../media/image25.png"/><Relationship Id="rId20" Type="http://schemas.openxmlformats.org/officeDocument/2006/relationships/image" Target="../media/image29.png"/><Relationship Id="rId21" Type="http://schemas.openxmlformats.org/officeDocument/2006/relationships/image" Target="../media/image21.png"/><Relationship Id="rId22" Type="http://schemas.openxmlformats.org/officeDocument/2006/relationships/image" Target="../media/image28.png"/><Relationship Id="rId23" Type="http://schemas.openxmlformats.org/officeDocument/2006/relationships/image" Target="../media/image21.png"/><Relationship Id="rId24" Type="http://schemas.openxmlformats.org/officeDocument/2006/relationships/image" Target="../media/image25.png"/><Relationship Id="rId25" Type="http://schemas.openxmlformats.org/officeDocument/2006/relationships/image" Target="../media/image25.png"/><Relationship Id="rId26" Type="http://schemas.openxmlformats.org/officeDocument/2006/relationships/image" Target="../media/image29.png"/><Relationship Id="rId27" Type="http://schemas.openxmlformats.org/officeDocument/2006/relationships/image" Target="../media/image22.png"/><Relationship Id="rId28" Type="http://schemas.openxmlformats.org/officeDocument/2006/relationships/image" Target="../media/image27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64640" y="848520"/>
            <a:ext cx="7707240" cy="183924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 algn="just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PROJET</a:t>
            </a:r>
            <a:r>
              <a:rPr b="0" lang="fr-FR" sz="4000" spc="693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4</a:t>
            </a:r>
            <a:r>
              <a:rPr b="0" lang="fr-FR" sz="4000" spc="738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–</a:t>
            </a:r>
            <a:r>
              <a:rPr b="0" lang="fr-FR" sz="4000" spc="758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«</a:t>
            </a:r>
            <a:r>
              <a:rPr b="0" lang="fr-FR" sz="4000" spc="763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ANTICIPEZ</a:t>
            </a:r>
            <a:r>
              <a:rPr b="0" lang="fr-FR" sz="4000" spc="738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26" strike="noStrike">
                <a:solidFill>
                  <a:srgbClr val="d2523b"/>
                </a:solidFill>
                <a:latin typeface="Arial"/>
              </a:rPr>
              <a:t>LES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BESOINS</a:t>
            </a:r>
            <a:r>
              <a:rPr b="0" lang="fr-FR" sz="4000" spc="55" strike="noStrike">
                <a:solidFill>
                  <a:srgbClr val="d2523b"/>
                </a:solidFill>
                <a:latin typeface="Arial"/>
              </a:rPr>
              <a:t> 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EN</a:t>
            </a:r>
            <a:r>
              <a:rPr b="0" lang="fr-FR" sz="4000" spc="58" strike="noStrike">
                <a:solidFill>
                  <a:srgbClr val="d2523b"/>
                </a:solidFill>
                <a:latin typeface="Arial"/>
              </a:rPr>
              <a:t>  </a:t>
            </a:r>
            <a:r>
              <a:rPr b="0" lang="fr-FR" sz="4000" spc="-106" strike="noStrike">
                <a:solidFill>
                  <a:srgbClr val="d2523b"/>
                </a:solidFill>
                <a:latin typeface="Arial"/>
              </a:rPr>
              <a:t>CONSOMMATION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ÉLECTRIQUE</a:t>
            </a:r>
            <a:r>
              <a:rPr b="0" lang="fr-FR" sz="4000" spc="-22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4000" spc="-19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BÂTIMENTS</a:t>
            </a:r>
            <a:r>
              <a:rPr b="0" lang="fr-FR" sz="4000" spc="-22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»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764640" y="2873880"/>
            <a:ext cx="2926440" cy="33249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2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56566d"/>
                </a:solidFill>
                <a:latin typeface="Arial"/>
              </a:rPr>
              <a:t>Soutenance</a:t>
            </a:r>
            <a:r>
              <a:rPr b="0" lang="fr-FR" sz="2400" spc="9" strike="noStrike">
                <a:solidFill>
                  <a:srgbClr val="56566d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56566d"/>
                </a:solidFill>
                <a:latin typeface="Arial"/>
              </a:rPr>
              <a:t>de</a:t>
            </a:r>
            <a:r>
              <a:rPr b="0" lang="fr-FR" sz="2400" spc="-7" strike="noStrike">
                <a:solidFill>
                  <a:srgbClr val="56566d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56566d"/>
                </a:solidFill>
                <a:latin typeface="Arial"/>
              </a:rPr>
              <a:t>projet </a:t>
            </a:r>
            <a:r>
              <a:rPr b="0" lang="fr-FR" sz="2400" spc="-21" strike="noStrike">
                <a:solidFill>
                  <a:srgbClr val="56566d"/>
                </a:solidFill>
                <a:latin typeface="Arial"/>
              </a:rPr>
              <a:t>2023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object 4" descr=""/>
          <p:cNvPicPr/>
          <p:nvPr/>
        </p:nvPicPr>
        <p:blipFill>
          <a:blip r:embed="rId1"/>
          <a:stretch/>
        </p:blipFill>
        <p:spPr>
          <a:xfrm>
            <a:off x="8100360" y="4585680"/>
            <a:ext cx="717840" cy="717840"/>
          </a:xfrm>
          <a:prstGeom prst="rect">
            <a:avLst/>
          </a:prstGeom>
          <a:ln w="0">
            <a:noFill/>
          </a:ln>
        </p:spPr>
      </p:pic>
      <p:sp>
        <p:nvSpPr>
          <p:cNvPr id="181" name="object 5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Sommaire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536040" y="1357560"/>
            <a:ext cx="5762880" cy="35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27760" indent="-515520">
              <a:lnSpc>
                <a:spcPct val="100000"/>
              </a:lnSpc>
              <a:spcBef>
                <a:spcPts val="96"/>
              </a:spcBef>
              <a:buClr>
                <a:srgbClr val="92a199"/>
              </a:buClr>
              <a:buSzPct val="84000"/>
              <a:buFont typeface="OpenSymbo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Présentation</a:t>
            </a:r>
            <a:r>
              <a:rPr b="0" lang="fr-FR" sz="28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problématique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Préparation</a:t>
            </a:r>
            <a:r>
              <a:rPr b="0" lang="fr-FR" sz="28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28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jeu</a:t>
            </a:r>
            <a:r>
              <a:rPr b="0" lang="fr-FR" sz="28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spcBef>
                <a:spcPts val="6"/>
              </a:spcBef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Pistes</a:t>
            </a:r>
            <a:r>
              <a:rPr b="0" lang="fr-FR" sz="28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modélisations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Présentation</a:t>
            </a:r>
            <a:r>
              <a:rPr b="0" lang="fr-FR" sz="2800" spc="-9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2800" spc="-9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8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final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object 4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2"/>
          <p:cNvSpPr/>
          <p:nvPr/>
        </p:nvSpPr>
        <p:spPr>
          <a:xfrm>
            <a:off x="801000" y="2312280"/>
            <a:ext cx="76572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</a:t>
            </a:r>
            <a:r>
              <a:rPr b="0" lang="fr-FR" sz="4800" spc="-20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-</a:t>
            </a:r>
            <a:r>
              <a:rPr b="0" lang="fr-FR" sz="4800" spc="-197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0" strike="noStrike">
                <a:solidFill>
                  <a:srgbClr val="f3f1dc"/>
                </a:solidFill>
                <a:latin typeface="Arial"/>
                <a:ea typeface="DejaVu Sans"/>
              </a:rPr>
              <a:t>PROBLÉMATIQUE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object 3"/>
          <p:cNvSpPr/>
          <p:nvPr/>
        </p:nvSpPr>
        <p:spPr>
          <a:xfrm>
            <a:off x="801000" y="3809160"/>
            <a:ext cx="43426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0000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Rappel de</a:t>
            </a:r>
            <a:r>
              <a:rPr b="0" lang="fr-FR" sz="2400" spc="-3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la</a:t>
            </a:r>
            <a:r>
              <a:rPr b="0" lang="fr-FR" sz="2400" spc="-35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problématique Interprétation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8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Pistes</a:t>
            </a:r>
            <a:r>
              <a:rPr b="0" lang="fr-FR" sz="2400" spc="-2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de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recherche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envisagées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object 4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5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600" spc="-100" strike="noStrike">
                <a:solidFill>
                  <a:srgbClr val="d2523b"/>
                </a:solidFill>
                <a:latin typeface="Arial"/>
              </a:rPr>
              <a:t>Présentation</a:t>
            </a:r>
            <a:r>
              <a:rPr b="0" lang="fr-FR" sz="3600" spc="-21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la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92" strike="noStrike">
                <a:solidFill>
                  <a:srgbClr val="d2523b"/>
                </a:solidFill>
                <a:latin typeface="Arial"/>
              </a:rPr>
              <a:t>problématique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object 3"/>
          <p:cNvSpPr/>
          <p:nvPr/>
        </p:nvSpPr>
        <p:spPr>
          <a:xfrm>
            <a:off x="536040" y="1322280"/>
            <a:ext cx="7916400" cy="354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95120" indent="-182880">
              <a:lnSpc>
                <a:spcPct val="90000"/>
              </a:lnSpc>
              <a:spcBef>
                <a:spcPts val="386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disponibles</a:t>
            </a:r>
            <a:r>
              <a:rPr b="0" lang="fr-FR" sz="2400" spc="18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les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ville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Seattle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l’année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2016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ts val="2591"/>
              </a:lnSpc>
              <a:spcBef>
                <a:spcPts val="6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Coût</a:t>
            </a:r>
            <a:r>
              <a:rPr b="0" lang="fr-FR" sz="2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important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d’obtention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relevés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fastidieuses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à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collecter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tabLst>
                <a:tab algn="l" pos="195480"/>
              </a:tabLst>
            </a:pPr>
            <a:endParaRPr b="0" lang="fr-FR" sz="295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mission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ts val="2160"/>
              </a:lnSpc>
              <a:spcBef>
                <a:spcPts val="51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Prédire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les</a:t>
            </a:r>
            <a:r>
              <a:rPr b="0" lang="fr-FR" sz="20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émissions</a:t>
            </a:r>
            <a:r>
              <a:rPr b="0" lang="fr-FR" sz="20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CO2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totale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d’énergie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sans</a:t>
            </a:r>
            <a:r>
              <a:rPr b="0" lang="fr-FR" sz="2000" spc="-35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les</a:t>
            </a:r>
            <a:r>
              <a:rPr b="0" lang="fr-FR" sz="2000" spc="-26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relevés</a:t>
            </a:r>
            <a:r>
              <a:rPr b="0" lang="fr-FR" sz="2000" spc="-26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2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annuels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10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Evaluer</a:t>
            </a:r>
            <a:r>
              <a:rPr b="0" lang="fr-FR" sz="20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l’intérêt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l’ENERGY</a:t>
            </a:r>
            <a:r>
              <a:rPr b="0" lang="fr-FR" sz="20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Mettre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place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un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lang="fr-FR" sz="2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réutilisable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object 4" descr=""/>
          <p:cNvPicPr/>
          <p:nvPr/>
        </p:nvPicPr>
        <p:blipFill>
          <a:blip r:embed="rId1"/>
          <a:stretch/>
        </p:blipFill>
        <p:spPr>
          <a:xfrm>
            <a:off x="7255800" y="625320"/>
            <a:ext cx="1581480" cy="458280"/>
          </a:xfrm>
          <a:prstGeom prst="rect">
            <a:avLst/>
          </a:prstGeom>
          <a:ln w="0">
            <a:noFill/>
          </a:ln>
        </p:spPr>
      </p:pic>
      <p:sp>
        <p:nvSpPr>
          <p:cNvPr id="191" name="object 5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5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600" spc="-100" strike="noStrike">
                <a:solidFill>
                  <a:srgbClr val="d2523b"/>
                </a:solidFill>
                <a:latin typeface="Arial"/>
              </a:rPr>
              <a:t>Interprétation</a:t>
            </a:r>
            <a:r>
              <a:rPr b="0" lang="fr-FR" sz="3600" spc="-20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5" strike="noStrike">
                <a:solidFill>
                  <a:srgbClr val="d2523b"/>
                </a:solidFill>
                <a:latin typeface="Arial"/>
              </a:rPr>
              <a:t>la</a:t>
            </a:r>
            <a:r>
              <a:rPr b="0" lang="fr-FR" sz="36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92" strike="noStrike">
                <a:solidFill>
                  <a:srgbClr val="d2523b"/>
                </a:solidFill>
                <a:latin typeface="Arial"/>
              </a:rPr>
              <a:t>problématique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object 3"/>
          <p:cNvSpPr/>
          <p:nvPr/>
        </p:nvSpPr>
        <p:spPr>
          <a:xfrm>
            <a:off x="536040" y="1286280"/>
            <a:ext cx="8053560" cy="40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Prévision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Features:</a:t>
            </a:r>
            <a:r>
              <a:rPr b="0" lang="fr-FR" sz="20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caractéristiques</a:t>
            </a:r>
            <a:r>
              <a:rPr b="0" lang="fr-FR" sz="20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intrinsèques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(hors consommations)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7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à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prédire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439"/>
              </a:spcBef>
              <a:buClr>
                <a:srgbClr val="92a199"/>
              </a:buClr>
              <a:buSzPct val="89000"/>
              <a:buFont typeface="Symbol"/>
              <a:buChar char=""/>
              <a:tabLst>
                <a:tab algn="l" pos="74484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totale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2" strike="noStrike">
                <a:solidFill>
                  <a:srgbClr val="00afef"/>
                </a:solidFill>
                <a:latin typeface="Arial"/>
                <a:ea typeface="DejaVu Sans"/>
              </a:rPr>
              <a:t>SiteEnergyUseWN(kBtu)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434"/>
              </a:spcBef>
              <a:buClr>
                <a:srgbClr val="92a199"/>
              </a:buClr>
              <a:buSzPct val="89000"/>
              <a:buFont typeface="Symbol"/>
              <a:buChar char=""/>
              <a:tabLst>
                <a:tab algn="l" pos="74484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Emissions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totales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2" strike="noStrike">
                <a:solidFill>
                  <a:srgbClr val="00afef"/>
                </a:solidFill>
                <a:latin typeface="Arial"/>
                <a:ea typeface="DejaVu Sans"/>
              </a:rPr>
              <a:t>TotalGHGEmissions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471"/>
              </a:spcBef>
              <a:tabLst>
                <a:tab algn="l" pos="744840"/>
              </a:tabLst>
            </a:pP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=&gt;</a:t>
            </a:r>
            <a:r>
              <a:rPr b="0" i="1" lang="fr-FR" sz="2000" spc="-26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2</a:t>
            </a:r>
            <a:r>
              <a:rPr b="0" i="1" lang="fr-FR" sz="2000" spc="-21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modèles</a:t>
            </a:r>
            <a:r>
              <a:rPr b="0" i="1" lang="fr-FR" sz="2000" spc="-21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2" strike="noStrike">
                <a:solidFill>
                  <a:srgbClr val="00afef"/>
                </a:solidFill>
                <a:latin typeface="Arial"/>
                <a:ea typeface="DejaVu Sans"/>
              </a:rPr>
              <a:t>différents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6"/>
              </a:spcBef>
              <a:tabLst>
                <a:tab algn="l" pos="744840"/>
              </a:tabLst>
            </a:pP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2400" spc="-1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24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2400" spc="-8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Comparaison</a:t>
            </a:r>
            <a:r>
              <a:rPr b="0" lang="fr-FR" sz="20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son</a:t>
            </a:r>
            <a:r>
              <a:rPr b="0" lang="fr-FR" sz="2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intérêt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essayant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modéliser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2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object 4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object 5" descr=""/>
          <p:cNvPicPr/>
          <p:nvPr/>
        </p:nvPicPr>
        <p:blipFill>
          <a:blip r:embed="rId1"/>
          <a:stretch/>
        </p:blipFill>
        <p:spPr>
          <a:xfrm>
            <a:off x="7255800" y="625320"/>
            <a:ext cx="1581480" cy="45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object 2"/>
          <p:cNvSpPr/>
          <p:nvPr/>
        </p:nvSpPr>
        <p:spPr>
          <a:xfrm>
            <a:off x="801000" y="2264400"/>
            <a:ext cx="741348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II</a:t>
            </a:r>
            <a:r>
              <a:rPr b="0" lang="fr-FR" sz="4800" spc="-270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–</a:t>
            </a:r>
            <a:r>
              <a:rPr b="0" lang="fr-FR" sz="4800" spc="-22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65" strike="noStrike">
                <a:solidFill>
                  <a:srgbClr val="f3f1dc"/>
                </a:solidFill>
                <a:latin typeface="Arial"/>
                <a:ea typeface="DejaVu Sans"/>
              </a:rPr>
              <a:t>PRÉPARATION</a:t>
            </a:r>
            <a:r>
              <a:rPr b="0" lang="fr-FR" sz="4800" spc="-23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DU</a:t>
            </a:r>
            <a:r>
              <a:rPr b="0" lang="fr-FR" sz="4800" spc="-250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60" strike="noStrike">
                <a:solidFill>
                  <a:srgbClr val="f3f1dc"/>
                </a:solidFill>
                <a:latin typeface="Arial"/>
                <a:ea typeface="DejaVu Sans"/>
              </a:rPr>
              <a:t>JEU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DE</a:t>
            </a:r>
            <a:r>
              <a:rPr b="0" lang="fr-FR" sz="4800" spc="-32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DONNÉES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801000" y="3809160"/>
            <a:ext cx="274932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2600">
              <a:lnSpc>
                <a:spcPct val="100000"/>
              </a:lnSpc>
              <a:spcBef>
                <a:spcPts val="386"/>
              </a:spcBef>
            </a:pP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Cleaning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3169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Feature</a:t>
            </a:r>
            <a:r>
              <a:rPr b="0" lang="fr-FR" sz="2400" spc="-7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engineering Exploration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object 4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6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Cleaning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object 3"/>
          <p:cNvSpPr/>
          <p:nvPr/>
        </p:nvSpPr>
        <p:spPr>
          <a:xfrm>
            <a:off x="258120" y="1308960"/>
            <a:ext cx="6372720" cy="279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Défauts</a:t>
            </a:r>
            <a:r>
              <a:rPr b="1" lang="fr-FR" sz="17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» du</a:t>
            </a:r>
            <a:r>
              <a:rPr b="1" lang="fr-FR" sz="17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jeu de données</a:t>
            </a:r>
            <a:r>
              <a:rPr b="1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2" strike="noStrike">
                <a:solidFill>
                  <a:srgbClr val="292934"/>
                </a:solidFill>
                <a:latin typeface="Arial"/>
                <a:ea typeface="DejaVu Sans"/>
              </a:rPr>
              <a:t>initial: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ts val="1834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ts val="1834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r>
              <a:rPr b="0" lang="fr-FR" sz="17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ts val="1511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complétion</a:t>
            </a:r>
            <a:r>
              <a:rPr b="0" lang="fr-FR" sz="14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valeurs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manquantes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quand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applicable</a:t>
            </a:r>
            <a:r>
              <a:rPr b="0" lang="fr-FR" sz="14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(e.g.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catégories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ts val="1511"/>
              </a:lnSpc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«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unknown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»)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ts val="1511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observations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lesquelles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on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</a:t>
            </a:r>
            <a:r>
              <a:rPr b="0" lang="fr-FR" sz="1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beaucoup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pour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ts val="1511"/>
              </a:lnSpc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conserver</a:t>
            </a:r>
            <a:r>
              <a:rPr b="0" lang="fr-FR" sz="14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maximum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ct val="100000"/>
              </a:lnSpc>
              <a:spcBef>
                <a:spcPts val="14"/>
              </a:spcBef>
              <a:tabLst>
                <a:tab algn="l" pos="469440"/>
                <a:tab algn="l" pos="469800"/>
              </a:tabLst>
            </a:pPr>
            <a:endParaRPr b="0" lang="fr-FR" sz="145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7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ct val="100000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univariés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(1%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extreme)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ct val="100000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4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multivariés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(distance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aux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5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plus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proches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voisins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1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%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 extreme)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511"/>
              </a:lnSpc>
              <a:tabLst>
                <a:tab algn="l" pos="469440"/>
                <a:tab algn="l" pos="46980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object 4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object 5" descr=""/>
          <p:cNvPicPr/>
          <p:nvPr/>
        </p:nvPicPr>
        <p:blipFill>
          <a:blip r:embed="rId1"/>
          <a:stretch/>
        </p:blipFill>
        <p:spPr>
          <a:xfrm>
            <a:off x="7568640" y="625320"/>
            <a:ext cx="1465920" cy="263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object 2"/>
          <p:cNvGrpSpPr/>
          <p:nvPr/>
        </p:nvGrpSpPr>
        <p:grpSpPr>
          <a:xfrm>
            <a:off x="6732360" y="3721680"/>
            <a:ext cx="2251440" cy="1942200"/>
            <a:chOff x="6732360" y="3721680"/>
            <a:chExt cx="2251440" cy="1942200"/>
          </a:xfrm>
        </p:grpSpPr>
        <p:sp>
          <p:nvSpPr>
            <p:cNvPr id="204" name="object 3"/>
            <p:cNvSpPr/>
            <p:nvPr/>
          </p:nvSpPr>
          <p:spPr>
            <a:xfrm>
              <a:off x="6732360" y="3721680"/>
              <a:ext cx="2251440" cy="1942200"/>
            </a:xfrm>
            <a:custGeom>
              <a:avLst/>
              <a:gdLst>
                <a:gd name="textAreaLeft" fmla="*/ 0 w 2251440"/>
                <a:gd name="textAreaRight" fmla="*/ 2253600 w 2251440"/>
                <a:gd name="textAreaTop" fmla="*/ 0 h 1942200"/>
                <a:gd name="textAreaBottom" fmla="*/ 1944360 h 1942200"/>
              </a:gdLst>
              <a:ahLst/>
              <a:rect l="textAreaLeft" t="textAreaTop" r="textAreaRight" b="textAreaBottom"/>
              <a:pathLst>
                <a:path w="2253615" h="1944370">
                  <a:moveTo>
                    <a:pt x="2253614" y="0"/>
                  </a:moveTo>
                  <a:lnTo>
                    <a:pt x="0" y="0"/>
                  </a:lnTo>
                  <a:lnTo>
                    <a:pt x="0" y="1944242"/>
                  </a:lnTo>
                  <a:lnTo>
                    <a:pt x="2253614" y="1944242"/>
                  </a:lnTo>
                  <a:lnTo>
                    <a:pt x="2253614" y="0"/>
                  </a:lnTo>
                  <a:close/>
                </a:path>
              </a:pathLst>
            </a:custGeom>
            <a:solidFill>
              <a:srgbClr val="d3da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" name="object 4"/>
            <p:cNvSpPr/>
            <p:nvPr/>
          </p:nvSpPr>
          <p:spPr>
            <a:xfrm>
              <a:off x="6732360" y="3721680"/>
              <a:ext cx="2251440" cy="1942200"/>
            </a:xfrm>
            <a:custGeom>
              <a:avLst/>
              <a:gdLst>
                <a:gd name="textAreaLeft" fmla="*/ 0 w 2251440"/>
                <a:gd name="textAreaRight" fmla="*/ 2253600 w 2251440"/>
                <a:gd name="textAreaTop" fmla="*/ 0 h 1942200"/>
                <a:gd name="textAreaBottom" fmla="*/ 1944360 h 1942200"/>
              </a:gdLst>
              <a:ahLst/>
              <a:rect l="textAreaLeft" t="textAreaTop" r="textAreaRight" b="textAreaBottom"/>
              <a:pathLst>
                <a:path w="2253615" h="1944370">
                  <a:moveTo>
                    <a:pt x="0" y="1944242"/>
                  </a:moveTo>
                  <a:lnTo>
                    <a:pt x="2253614" y="1944242"/>
                  </a:lnTo>
                  <a:lnTo>
                    <a:pt x="2253614" y="0"/>
                  </a:lnTo>
                  <a:lnTo>
                    <a:pt x="0" y="0"/>
                  </a:lnTo>
                  <a:lnTo>
                    <a:pt x="0" y="1944242"/>
                  </a:lnTo>
                  <a:close/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" name="object 5"/>
            <p:cNvSpPr/>
            <p:nvPr/>
          </p:nvSpPr>
          <p:spPr>
            <a:xfrm>
              <a:off x="7668720" y="379404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1046987" y="0"/>
                  </a:moveTo>
                  <a:lnTo>
                    <a:pt x="141731" y="0"/>
                  </a:lnTo>
                  <a:lnTo>
                    <a:pt x="96950" y="7216"/>
                  </a:lnTo>
                  <a:lnTo>
                    <a:pt x="58046" y="27314"/>
                  </a:lnTo>
                  <a:lnTo>
                    <a:pt x="27358" y="57963"/>
                  </a:lnTo>
                  <a:lnTo>
                    <a:pt x="7229" y="96836"/>
                  </a:lnTo>
                  <a:lnTo>
                    <a:pt x="0" y="141604"/>
                  </a:lnTo>
                  <a:lnTo>
                    <a:pt x="0" y="708342"/>
                  </a:lnTo>
                  <a:lnTo>
                    <a:pt x="7229" y="753129"/>
                  </a:lnTo>
                  <a:lnTo>
                    <a:pt x="27358" y="792025"/>
                  </a:lnTo>
                  <a:lnTo>
                    <a:pt x="58046" y="822698"/>
                  </a:lnTo>
                  <a:lnTo>
                    <a:pt x="96950" y="842812"/>
                  </a:lnTo>
                  <a:lnTo>
                    <a:pt x="141731" y="850036"/>
                  </a:lnTo>
                  <a:lnTo>
                    <a:pt x="1046987" y="850036"/>
                  </a:lnTo>
                  <a:lnTo>
                    <a:pt x="1091756" y="842812"/>
                  </a:lnTo>
                  <a:lnTo>
                    <a:pt x="1130629" y="822698"/>
                  </a:lnTo>
                  <a:lnTo>
                    <a:pt x="1161278" y="792025"/>
                  </a:lnTo>
                  <a:lnTo>
                    <a:pt x="1181376" y="753129"/>
                  </a:lnTo>
                  <a:lnTo>
                    <a:pt x="1188592" y="708342"/>
                  </a:lnTo>
                  <a:lnTo>
                    <a:pt x="1188592" y="141604"/>
                  </a:lnTo>
                  <a:lnTo>
                    <a:pt x="1181376" y="96836"/>
                  </a:lnTo>
                  <a:lnTo>
                    <a:pt x="1161278" y="57963"/>
                  </a:lnTo>
                  <a:lnTo>
                    <a:pt x="1130629" y="27314"/>
                  </a:lnTo>
                  <a:lnTo>
                    <a:pt x="1091756" y="7216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dcdfde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" name="object 6"/>
            <p:cNvSpPr/>
            <p:nvPr/>
          </p:nvSpPr>
          <p:spPr>
            <a:xfrm>
              <a:off x="7668720" y="379404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0" y="141604"/>
                  </a:moveTo>
                  <a:lnTo>
                    <a:pt x="7229" y="96836"/>
                  </a:lnTo>
                  <a:lnTo>
                    <a:pt x="27358" y="57963"/>
                  </a:lnTo>
                  <a:lnTo>
                    <a:pt x="58046" y="27314"/>
                  </a:lnTo>
                  <a:lnTo>
                    <a:pt x="96950" y="7216"/>
                  </a:lnTo>
                  <a:lnTo>
                    <a:pt x="141731" y="0"/>
                  </a:lnTo>
                  <a:lnTo>
                    <a:pt x="1046987" y="0"/>
                  </a:lnTo>
                  <a:lnTo>
                    <a:pt x="1091756" y="7216"/>
                  </a:lnTo>
                  <a:lnTo>
                    <a:pt x="1130629" y="27314"/>
                  </a:lnTo>
                  <a:lnTo>
                    <a:pt x="1161278" y="57963"/>
                  </a:lnTo>
                  <a:lnTo>
                    <a:pt x="1181376" y="96836"/>
                  </a:lnTo>
                  <a:lnTo>
                    <a:pt x="1188592" y="141604"/>
                  </a:lnTo>
                  <a:lnTo>
                    <a:pt x="1188592" y="708342"/>
                  </a:lnTo>
                  <a:lnTo>
                    <a:pt x="1181376" y="753129"/>
                  </a:lnTo>
                  <a:lnTo>
                    <a:pt x="1161278" y="792025"/>
                  </a:lnTo>
                  <a:lnTo>
                    <a:pt x="1130629" y="822698"/>
                  </a:lnTo>
                  <a:lnTo>
                    <a:pt x="1091756" y="842812"/>
                  </a:lnTo>
                  <a:lnTo>
                    <a:pt x="1046987" y="850036"/>
                  </a:lnTo>
                  <a:lnTo>
                    <a:pt x="141731" y="850036"/>
                  </a:lnTo>
                  <a:lnTo>
                    <a:pt x="96950" y="842812"/>
                  </a:lnTo>
                  <a:lnTo>
                    <a:pt x="58046" y="822698"/>
                  </a:lnTo>
                  <a:lnTo>
                    <a:pt x="27358" y="792025"/>
                  </a:lnTo>
                  <a:lnTo>
                    <a:pt x="7229" y="753129"/>
                  </a:lnTo>
                  <a:lnTo>
                    <a:pt x="0" y="708342"/>
                  </a:lnTo>
                  <a:lnTo>
                    <a:pt x="0" y="141604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8462880" cy="12297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Feature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engineering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object 8"/>
          <p:cNvSpPr/>
          <p:nvPr/>
        </p:nvSpPr>
        <p:spPr>
          <a:xfrm>
            <a:off x="536040" y="1117800"/>
            <a:ext cx="6549840" cy="20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2200" bIns="0" anchor="t">
            <a:spAutoFit/>
          </a:bodyPr>
          <a:p>
            <a:pPr marL="12600">
              <a:lnSpc>
                <a:spcPct val="100000"/>
              </a:lnSpc>
              <a:spcBef>
                <a:spcPts val="408"/>
              </a:spcBef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Idées</a:t>
            </a:r>
            <a:r>
              <a:rPr b="1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écartées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9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liées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la proportion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sources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d’énergie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(coûteux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 obtenir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futures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données)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Utilisation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(mis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côté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analyse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ultérieure)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14"/>
              </a:spcBef>
              <a:tabLst>
                <a:tab algn="l" pos="195120"/>
                <a:tab algn="l" pos="195480"/>
              </a:tabLst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Idées</a:t>
            </a:r>
            <a:r>
              <a:rPr b="1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retenues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2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(ormis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les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qu’on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cherche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prédire)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1080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Catégorisation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certaines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(usage)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1094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One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Hot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Encoding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Transformation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d’une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 catégories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booléennes.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object 9"/>
          <p:cNvSpPr/>
          <p:nvPr/>
        </p:nvSpPr>
        <p:spPr>
          <a:xfrm>
            <a:off x="536040" y="3120480"/>
            <a:ext cx="5220720" cy="14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386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2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pertinentes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notre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catégorisation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possible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(Comment)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une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unique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information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(exemple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State)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9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information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pertinente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(voir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exemples)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DefaultData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sens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expliqué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booléen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beaucoup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SPD</a:t>
            </a:r>
            <a:r>
              <a:rPr b="0" lang="fr-FR" sz="10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Beats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informations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utiles à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problématique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beaucoup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0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redondantes</a:t>
            </a:r>
            <a:r>
              <a:rPr b="0" lang="fr-FR" sz="1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(address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zipcode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remplacées</a:t>
            </a:r>
            <a:r>
              <a:rPr b="0" lang="fr-FR" sz="1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par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latitude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longitude)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object 10"/>
          <p:cNvSpPr/>
          <p:nvPr/>
        </p:nvSpPr>
        <p:spPr>
          <a:xfrm>
            <a:off x="536040" y="4612320"/>
            <a:ext cx="30528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Log2-transformation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object 11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8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object 12" descr=""/>
          <p:cNvPicPr/>
          <p:nvPr/>
        </p:nvPicPr>
        <p:blipFill>
          <a:blip r:embed="rId1"/>
          <a:stretch/>
        </p:blipFill>
        <p:spPr>
          <a:xfrm>
            <a:off x="5393520" y="5017680"/>
            <a:ext cx="832680" cy="657720"/>
          </a:xfrm>
          <a:prstGeom prst="rect">
            <a:avLst/>
          </a:prstGeom>
          <a:ln w="0">
            <a:noFill/>
          </a:ln>
        </p:spPr>
      </p:pic>
      <p:grpSp>
        <p:nvGrpSpPr>
          <p:cNvPr id="214" name="object 13"/>
          <p:cNvGrpSpPr/>
          <p:nvPr/>
        </p:nvGrpSpPr>
        <p:grpSpPr>
          <a:xfrm>
            <a:off x="4025160" y="5038920"/>
            <a:ext cx="1294200" cy="627840"/>
            <a:chOff x="4025160" y="5038920"/>
            <a:chExt cx="1294200" cy="627840"/>
          </a:xfrm>
        </p:grpSpPr>
        <p:pic>
          <p:nvPicPr>
            <p:cNvPr id="215" name="object 14" descr=""/>
            <p:cNvPicPr/>
            <p:nvPr/>
          </p:nvPicPr>
          <p:blipFill>
            <a:blip r:embed="rId2"/>
            <a:stretch/>
          </p:blipFill>
          <p:spPr>
            <a:xfrm>
              <a:off x="4025160" y="5038920"/>
              <a:ext cx="893160" cy="627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6" name="object 15"/>
            <p:cNvSpPr/>
            <p:nvPr/>
          </p:nvSpPr>
          <p:spPr>
            <a:xfrm>
              <a:off x="4961520" y="5292360"/>
              <a:ext cx="357840" cy="141840"/>
            </a:xfrm>
            <a:custGeom>
              <a:avLst/>
              <a:gdLst>
                <a:gd name="textAreaLeft" fmla="*/ 0 w 357840"/>
                <a:gd name="textAreaRight" fmla="*/ 360000 w 357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360045" h="144145">
                  <a:moveTo>
                    <a:pt x="288035" y="0"/>
                  </a:moveTo>
                  <a:lnTo>
                    <a:pt x="288035" y="36004"/>
                  </a:lnTo>
                  <a:lnTo>
                    <a:pt x="0" y="36004"/>
                  </a:lnTo>
                  <a:lnTo>
                    <a:pt x="0" y="108013"/>
                  </a:lnTo>
                  <a:lnTo>
                    <a:pt x="288035" y="108013"/>
                  </a:lnTo>
                  <a:lnTo>
                    <a:pt x="288035" y="144018"/>
                  </a:lnTo>
                  <a:lnTo>
                    <a:pt x="360044" y="72009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29293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17" name="object 16"/>
            <p:cNvSpPr/>
            <p:nvPr/>
          </p:nvSpPr>
          <p:spPr>
            <a:xfrm>
              <a:off x="4961520" y="5292360"/>
              <a:ext cx="357840" cy="141840"/>
            </a:xfrm>
            <a:custGeom>
              <a:avLst/>
              <a:gdLst>
                <a:gd name="textAreaLeft" fmla="*/ 0 w 357840"/>
                <a:gd name="textAreaRight" fmla="*/ 360000 w 357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360045" h="144145">
                  <a:moveTo>
                    <a:pt x="0" y="36004"/>
                  </a:moveTo>
                  <a:lnTo>
                    <a:pt x="288035" y="36004"/>
                  </a:lnTo>
                  <a:lnTo>
                    <a:pt x="288035" y="0"/>
                  </a:lnTo>
                  <a:lnTo>
                    <a:pt x="360044" y="72009"/>
                  </a:lnTo>
                  <a:lnTo>
                    <a:pt x="288035" y="144018"/>
                  </a:lnTo>
                  <a:lnTo>
                    <a:pt x="288035" y="108013"/>
                  </a:lnTo>
                  <a:lnTo>
                    <a:pt x="0" y="108013"/>
                  </a:lnTo>
                  <a:lnTo>
                    <a:pt x="0" y="36004"/>
                  </a:lnTo>
                  <a:close/>
                </a:path>
              </a:pathLst>
            </a:custGeom>
            <a:noFill/>
            <a:ln w="26424">
              <a:solidFill>
                <a:srgbClr val="29293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18" name="object 17"/>
          <p:cNvSpPr/>
          <p:nvPr/>
        </p:nvSpPr>
        <p:spPr>
          <a:xfrm>
            <a:off x="7719120" y="3804120"/>
            <a:ext cx="105012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14480" indent="-114480">
              <a:lnSpc>
                <a:spcPct val="100000"/>
              </a:lnSpc>
              <a:spcBef>
                <a:spcPts val="99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5748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lignes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lnSpc>
                <a:spcPts val="1344"/>
              </a:lnSpc>
              <a:spcBef>
                <a:spcPts val="11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24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ts val="1239"/>
              </a:lnSpc>
              <a:spcBef>
                <a:spcPts val="116"/>
              </a:spcBef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(3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variables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prédiction)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9" name="object 18"/>
          <p:cNvGrpSpPr/>
          <p:nvPr/>
        </p:nvGrpSpPr>
        <p:grpSpPr>
          <a:xfrm>
            <a:off x="6876360" y="3794040"/>
            <a:ext cx="790200" cy="848160"/>
            <a:chOff x="6876360" y="3794040"/>
            <a:chExt cx="790200" cy="848160"/>
          </a:xfrm>
        </p:grpSpPr>
        <p:sp>
          <p:nvSpPr>
            <p:cNvPr id="220" name="object 19"/>
            <p:cNvSpPr/>
            <p:nvPr/>
          </p:nvSpPr>
          <p:spPr>
            <a:xfrm>
              <a:off x="6876360" y="379404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660272" y="0"/>
                  </a:moveTo>
                  <a:lnTo>
                    <a:pt x="132079" y="0"/>
                  </a:lnTo>
                  <a:lnTo>
                    <a:pt x="90302" y="6725"/>
                  </a:lnTo>
                  <a:lnTo>
                    <a:pt x="54041" y="25460"/>
                  </a:lnTo>
                  <a:lnTo>
                    <a:pt x="25460" y="54041"/>
                  </a:lnTo>
                  <a:lnTo>
                    <a:pt x="6725" y="90302"/>
                  </a:lnTo>
                  <a:lnTo>
                    <a:pt x="0" y="132079"/>
                  </a:lnTo>
                  <a:lnTo>
                    <a:pt x="0" y="717956"/>
                  </a:lnTo>
                  <a:lnTo>
                    <a:pt x="6725" y="759705"/>
                  </a:lnTo>
                  <a:lnTo>
                    <a:pt x="25460" y="795962"/>
                  </a:lnTo>
                  <a:lnTo>
                    <a:pt x="54041" y="824553"/>
                  </a:lnTo>
                  <a:lnTo>
                    <a:pt x="90302" y="843303"/>
                  </a:lnTo>
                  <a:lnTo>
                    <a:pt x="132079" y="850036"/>
                  </a:lnTo>
                  <a:lnTo>
                    <a:pt x="660272" y="850036"/>
                  </a:lnTo>
                  <a:lnTo>
                    <a:pt x="702050" y="843303"/>
                  </a:lnTo>
                  <a:lnTo>
                    <a:pt x="738311" y="824553"/>
                  </a:lnTo>
                  <a:lnTo>
                    <a:pt x="766892" y="795962"/>
                  </a:lnTo>
                  <a:lnTo>
                    <a:pt x="785627" y="759705"/>
                  </a:lnTo>
                  <a:lnTo>
                    <a:pt x="792352" y="717956"/>
                  </a:lnTo>
                  <a:lnTo>
                    <a:pt x="792352" y="132079"/>
                  </a:lnTo>
                  <a:lnTo>
                    <a:pt x="785627" y="90302"/>
                  </a:lnTo>
                  <a:lnTo>
                    <a:pt x="766892" y="54041"/>
                  </a:lnTo>
                  <a:lnTo>
                    <a:pt x="738311" y="25460"/>
                  </a:lnTo>
                  <a:lnTo>
                    <a:pt x="702050" y="6725"/>
                  </a:lnTo>
                  <a:lnTo>
                    <a:pt x="66027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" name="object 20"/>
            <p:cNvSpPr/>
            <p:nvPr/>
          </p:nvSpPr>
          <p:spPr>
            <a:xfrm>
              <a:off x="6876360" y="379404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0" y="132079"/>
                  </a:moveTo>
                  <a:lnTo>
                    <a:pt x="6725" y="90302"/>
                  </a:lnTo>
                  <a:lnTo>
                    <a:pt x="25460" y="54041"/>
                  </a:lnTo>
                  <a:lnTo>
                    <a:pt x="54041" y="25460"/>
                  </a:lnTo>
                  <a:lnTo>
                    <a:pt x="90302" y="6725"/>
                  </a:lnTo>
                  <a:lnTo>
                    <a:pt x="132079" y="0"/>
                  </a:lnTo>
                  <a:lnTo>
                    <a:pt x="660272" y="0"/>
                  </a:lnTo>
                  <a:lnTo>
                    <a:pt x="702050" y="6725"/>
                  </a:lnTo>
                  <a:lnTo>
                    <a:pt x="738311" y="25460"/>
                  </a:lnTo>
                  <a:lnTo>
                    <a:pt x="766892" y="54041"/>
                  </a:lnTo>
                  <a:lnTo>
                    <a:pt x="785627" y="90302"/>
                  </a:lnTo>
                  <a:lnTo>
                    <a:pt x="792352" y="132079"/>
                  </a:lnTo>
                  <a:lnTo>
                    <a:pt x="792352" y="717956"/>
                  </a:lnTo>
                  <a:lnTo>
                    <a:pt x="785627" y="759705"/>
                  </a:lnTo>
                  <a:lnTo>
                    <a:pt x="766892" y="795962"/>
                  </a:lnTo>
                  <a:lnTo>
                    <a:pt x="738311" y="824553"/>
                  </a:lnTo>
                  <a:lnTo>
                    <a:pt x="702050" y="843303"/>
                  </a:lnTo>
                  <a:lnTo>
                    <a:pt x="660272" y="850036"/>
                  </a:lnTo>
                  <a:lnTo>
                    <a:pt x="132079" y="850036"/>
                  </a:lnTo>
                  <a:lnTo>
                    <a:pt x="90302" y="843303"/>
                  </a:lnTo>
                  <a:lnTo>
                    <a:pt x="54041" y="824553"/>
                  </a:lnTo>
                  <a:lnTo>
                    <a:pt x="25460" y="795962"/>
                  </a:lnTo>
                  <a:lnTo>
                    <a:pt x="6725" y="759705"/>
                  </a:lnTo>
                  <a:lnTo>
                    <a:pt x="0" y="717956"/>
                  </a:lnTo>
                  <a:lnTo>
                    <a:pt x="0" y="132079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2" name="object 21"/>
          <p:cNvSpPr/>
          <p:nvPr/>
        </p:nvSpPr>
        <p:spPr>
          <a:xfrm>
            <a:off x="7012800" y="3819960"/>
            <a:ext cx="53244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5640" bIns="0" anchor="t">
            <a:spAutoFit/>
          </a:bodyPr>
          <a:p>
            <a:pPr algn="ctr">
              <a:lnSpc>
                <a:spcPct val="86000"/>
              </a:lnSpc>
              <a:spcBef>
                <a:spcPts val="281"/>
              </a:spcBef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final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sans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Energy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Star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3" name="object 22"/>
          <p:cNvGrpSpPr/>
          <p:nvPr/>
        </p:nvGrpSpPr>
        <p:grpSpPr>
          <a:xfrm>
            <a:off x="7668720" y="4728960"/>
            <a:ext cx="1186560" cy="848160"/>
            <a:chOff x="7668720" y="4728960"/>
            <a:chExt cx="1186560" cy="848160"/>
          </a:xfrm>
        </p:grpSpPr>
        <p:sp>
          <p:nvSpPr>
            <p:cNvPr id="224" name="object 23"/>
            <p:cNvSpPr/>
            <p:nvPr/>
          </p:nvSpPr>
          <p:spPr>
            <a:xfrm>
              <a:off x="7668720" y="472896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1046987" y="0"/>
                  </a:moveTo>
                  <a:lnTo>
                    <a:pt x="141731" y="0"/>
                  </a:lnTo>
                  <a:lnTo>
                    <a:pt x="96950" y="7223"/>
                  </a:lnTo>
                  <a:lnTo>
                    <a:pt x="58046" y="27337"/>
                  </a:lnTo>
                  <a:lnTo>
                    <a:pt x="27358" y="58007"/>
                  </a:lnTo>
                  <a:lnTo>
                    <a:pt x="7229" y="96900"/>
                  </a:lnTo>
                  <a:lnTo>
                    <a:pt x="0" y="141681"/>
                  </a:lnTo>
                  <a:lnTo>
                    <a:pt x="0" y="708405"/>
                  </a:lnTo>
                  <a:lnTo>
                    <a:pt x="7229" y="753186"/>
                  </a:lnTo>
                  <a:lnTo>
                    <a:pt x="27358" y="792079"/>
                  </a:lnTo>
                  <a:lnTo>
                    <a:pt x="58046" y="822749"/>
                  </a:lnTo>
                  <a:lnTo>
                    <a:pt x="96950" y="842863"/>
                  </a:lnTo>
                  <a:lnTo>
                    <a:pt x="141731" y="850087"/>
                  </a:lnTo>
                  <a:lnTo>
                    <a:pt x="1046987" y="850087"/>
                  </a:lnTo>
                  <a:lnTo>
                    <a:pt x="1091756" y="842863"/>
                  </a:lnTo>
                  <a:lnTo>
                    <a:pt x="1130629" y="822749"/>
                  </a:lnTo>
                  <a:lnTo>
                    <a:pt x="1161278" y="792079"/>
                  </a:lnTo>
                  <a:lnTo>
                    <a:pt x="1181376" y="753186"/>
                  </a:lnTo>
                  <a:lnTo>
                    <a:pt x="1188592" y="708405"/>
                  </a:lnTo>
                  <a:lnTo>
                    <a:pt x="1188592" y="141681"/>
                  </a:lnTo>
                  <a:lnTo>
                    <a:pt x="1181376" y="96900"/>
                  </a:lnTo>
                  <a:lnTo>
                    <a:pt x="1161278" y="58007"/>
                  </a:lnTo>
                  <a:lnTo>
                    <a:pt x="1130629" y="27337"/>
                  </a:lnTo>
                  <a:lnTo>
                    <a:pt x="1091756" y="7223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dcdfde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" name="object 24"/>
            <p:cNvSpPr/>
            <p:nvPr/>
          </p:nvSpPr>
          <p:spPr>
            <a:xfrm>
              <a:off x="7668720" y="472896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0" y="141681"/>
                  </a:moveTo>
                  <a:lnTo>
                    <a:pt x="7229" y="96900"/>
                  </a:lnTo>
                  <a:lnTo>
                    <a:pt x="27358" y="58007"/>
                  </a:lnTo>
                  <a:lnTo>
                    <a:pt x="58046" y="27337"/>
                  </a:lnTo>
                  <a:lnTo>
                    <a:pt x="96950" y="7223"/>
                  </a:lnTo>
                  <a:lnTo>
                    <a:pt x="141731" y="0"/>
                  </a:lnTo>
                  <a:lnTo>
                    <a:pt x="1046987" y="0"/>
                  </a:lnTo>
                  <a:lnTo>
                    <a:pt x="1091756" y="7223"/>
                  </a:lnTo>
                  <a:lnTo>
                    <a:pt x="1130629" y="27337"/>
                  </a:lnTo>
                  <a:lnTo>
                    <a:pt x="1161278" y="58007"/>
                  </a:lnTo>
                  <a:lnTo>
                    <a:pt x="1181376" y="96900"/>
                  </a:lnTo>
                  <a:lnTo>
                    <a:pt x="1188592" y="141681"/>
                  </a:lnTo>
                  <a:lnTo>
                    <a:pt x="1188592" y="708405"/>
                  </a:lnTo>
                  <a:lnTo>
                    <a:pt x="1181376" y="753186"/>
                  </a:lnTo>
                  <a:lnTo>
                    <a:pt x="1161278" y="792079"/>
                  </a:lnTo>
                  <a:lnTo>
                    <a:pt x="1130629" y="822749"/>
                  </a:lnTo>
                  <a:lnTo>
                    <a:pt x="1091756" y="842863"/>
                  </a:lnTo>
                  <a:lnTo>
                    <a:pt x="1046987" y="850087"/>
                  </a:lnTo>
                  <a:lnTo>
                    <a:pt x="141731" y="850087"/>
                  </a:lnTo>
                  <a:lnTo>
                    <a:pt x="96950" y="842863"/>
                  </a:lnTo>
                  <a:lnTo>
                    <a:pt x="58046" y="822749"/>
                  </a:lnTo>
                  <a:lnTo>
                    <a:pt x="27358" y="792079"/>
                  </a:lnTo>
                  <a:lnTo>
                    <a:pt x="7229" y="753186"/>
                  </a:lnTo>
                  <a:lnTo>
                    <a:pt x="0" y="708405"/>
                  </a:lnTo>
                  <a:lnTo>
                    <a:pt x="0" y="141681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6" name="object 25"/>
          <p:cNvSpPr/>
          <p:nvPr/>
        </p:nvSpPr>
        <p:spPr>
          <a:xfrm>
            <a:off x="7719120" y="4739040"/>
            <a:ext cx="105012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14480" indent="-114480">
              <a:lnSpc>
                <a:spcPct val="100000"/>
              </a:lnSpc>
              <a:spcBef>
                <a:spcPts val="99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4289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lignes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lnSpc>
                <a:spcPts val="1344"/>
              </a:lnSpc>
              <a:spcBef>
                <a:spcPts val="14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25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ts val="1239"/>
              </a:lnSpc>
              <a:spcBef>
                <a:spcPts val="111"/>
              </a:spcBef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(3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variables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prédiction)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object 26"/>
          <p:cNvGrpSpPr/>
          <p:nvPr/>
        </p:nvGrpSpPr>
        <p:grpSpPr>
          <a:xfrm>
            <a:off x="6876360" y="4728960"/>
            <a:ext cx="790200" cy="848160"/>
            <a:chOff x="6876360" y="4728960"/>
            <a:chExt cx="790200" cy="848160"/>
          </a:xfrm>
        </p:grpSpPr>
        <p:sp>
          <p:nvSpPr>
            <p:cNvPr id="228" name="object 27"/>
            <p:cNvSpPr/>
            <p:nvPr/>
          </p:nvSpPr>
          <p:spPr>
            <a:xfrm>
              <a:off x="6876360" y="472896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660272" y="0"/>
                  </a:moveTo>
                  <a:lnTo>
                    <a:pt x="132079" y="0"/>
                  </a:lnTo>
                  <a:lnTo>
                    <a:pt x="90302" y="6733"/>
                  </a:lnTo>
                  <a:lnTo>
                    <a:pt x="54041" y="25482"/>
                  </a:lnTo>
                  <a:lnTo>
                    <a:pt x="25460" y="54073"/>
                  </a:lnTo>
                  <a:lnTo>
                    <a:pt x="6725" y="90331"/>
                  </a:lnTo>
                  <a:lnTo>
                    <a:pt x="0" y="132079"/>
                  </a:lnTo>
                  <a:lnTo>
                    <a:pt x="0" y="718007"/>
                  </a:lnTo>
                  <a:lnTo>
                    <a:pt x="6725" y="759755"/>
                  </a:lnTo>
                  <a:lnTo>
                    <a:pt x="25460" y="796013"/>
                  </a:lnTo>
                  <a:lnTo>
                    <a:pt x="54041" y="824604"/>
                  </a:lnTo>
                  <a:lnTo>
                    <a:pt x="90302" y="843353"/>
                  </a:lnTo>
                  <a:lnTo>
                    <a:pt x="132079" y="850087"/>
                  </a:lnTo>
                  <a:lnTo>
                    <a:pt x="660272" y="850087"/>
                  </a:lnTo>
                  <a:lnTo>
                    <a:pt x="702050" y="843353"/>
                  </a:lnTo>
                  <a:lnTo>
                    <a:pt x="738311" y="824604"/>
                  </a:lnTo>
                  <a:lnTo>
                    <a:pt x="766892" y="796013"/>
                  </a:lnTo>
                  <a:lnTo>
                    <a:pt x="785627" y="759755"/>
                  </a:lnTo>
                  <a:lnTo>
                    <a:pt x="792352" y="718007"/>
                  </a:lnTo>
                  <a:lnTo>
                    <a:pt x="792352" y="132079"/>
                  </a:lnTo>
                  <a:lnTo>
                    <a:pt x="785627" y="90331"/>
                  </a:lnTo>
                  <a:lnTo>
                    <a:pt x="766892" y="54073"/>
                  </a:lnTo>
                  <a:lnTo>
                    <a:pt x="738311" y="25482"/>
                  </a:lnTo>
                  <a:lnTo>
                    <a:pt x="702050" y="6733"/>
                  </a:lnTo>
                  <a:lnTo>
                    <a:pt x="66027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9" name="object 28"/>
            <p:cNvSpPr/>
            <p:nvPr/>
          </p:nvSpPr>
          <p:spPr>
            <a:xfrm>
              <a:off x="6876360" y="472896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0" y="132079"/>
                  </a:moveTo>
                  <a:lnTo>
                    <a:pt x="6725" y="90331"/>
                  </a:lnTo>
                  <a:lnTo>
                    <a:pt x="25460" y="54073"/>
                  </a:lnTo>
                  <a:lnTo>
                    <a:pt x="54041" y="25482"/>
                  </a:lnTo>
                  <a:lnTo>
                    <a:pt x="90302" y="6733"/>
                  </a:lnTo>
                  <a:lnTo>
                    <a:pt x="132079" y="0"/>
                  </a:lnTo>
                  <a:lnTo>
                    <a:pt x="660272" y="0"/>
                  </a:lnTo>
                  <a:lnTo>
                    <a:pt x="702050" y="6733"/>
                  </a:lnTo>
                  <a:lnTo>
                    <a:pt x="738311" y="25482"/>
                  </a:lnTo>
                  <a:lnTo>
                    <a:pt x="766892" y="54073"/>
                  </a:lnTo>
                  <a:lnTo>
                    <a:pt x="785627" y="90331"/>
                  </a:lnTo>
                  <a:lnTo>
                    <a:pt x="792352" y="132079"/>
                  </a:lnTo>
                  <a:lnTo>
                    <a:pt x="792352" y="718007"/>
                  </a:lnTo>
                  <a:lnTo>
                    <a:pt x="785627" y="759755"/>
                  </a:lnTo>
                  <a:lnTo>
                    <a:pt x="766892" y="796013"/>
                  </a:lnTo>
                  <a:lnTo>
                    <a:pt x="738311" y="824604"/>
                  </a:lnTo>
                  <a:lnTo>
                    <a:pt x="702050" y="843353"/>
                  </a:lnTo>
                  <a:lnTo>
                    <a:pt x="660272" y="850087"/>
                  </a:lnTo>
                  <a:lnTo>
                    <a:pt x="132079" y="850087"/>
                  </a:lnTo>
                  <a:lnTo>
                    <a:pt x="90302" y="843353"/>
                  </a:lnTo>
                  <a:lnTo>
                    <a:pt x="54041" y="824604"/>
                  </a:lnTo>
                  <a:lnTo>
                    <a:pt x="25460" y="796013"/>
                  </a:lnTo>
                  <a:lnTo>
                    <a:pt x="6725" y="759755"/>
                  </a:lnTo>
                  <a:lnTo>
                    <a:pt x="0" y="718007"/>
                  </a:lnTo>
                  <a:lnTo>
                    <a:pt x="0" y="132079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30" name="object 29"/>
          <p:cNvSpPr/>
          <p:nvPr/>
        </p:nvSpPr>
        <p:spPr>
          <a:xfrm>
            <a:off x="7012800" y="4755240"/>
            <a:ext cx="5324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algn="ctr">
              <a:lnSpc>
                <a:spcPts val="1140"/>
              </a:lnSpc>
              <a:spcBef>
                <a:spcPts val="289"/>
              </a:spcBef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final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avec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Energy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Star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object 2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07280" y="347040"/>
            <a:ext cx="244116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Exploration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bject 4"/>
          <p:cNvSpPr/>
          <p:nvPr/>
        </p:nvSpPr>
        <p:spPr>
          <a:xfrm>
            <a:off x="7700040" y="2700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9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object 5" descr=""/>
          <p:cNvPicPr/>
          <p:nvPr/>
        </p:nvPicPr>
        <p:blipFill>
          <a:blip r:embed="rId1"/>
          <a:stretch/>
        </p:blipFill>
        <p:spPr>
          <a:xfrm>
            <a:off x="251640" y="878040"/>
            <a:ext cx="4265280" cy="2235600"/>
          </a:xfrm>
          <a:prstGeom prst="rect">
            <a:avLst/>
          </a:prstGeom>
          <a:ln w="0">
            <a:noFill/>
          </a:ln>
        </p:spPr>
      </p:pic>
      <p:pic>
        <p:nvPicPr>
          <p:cNvPr id="235" name="object 6" descr=""/>
          <p:cNvPicPr/>
          <p:nvPr/>
        </p:nvPicPr>
        <p:blipFill>
          <a:blip r:embed="rId2"/>
          <a:stretch/>
        </p:blipFill>
        <p:spPr>
          <a:xfrm>
            <a:off x="370080" y="3210120"/>
            <a:ext cx="4111560" cy="2162520"/>
          </a:xfrm>
          <a:prstGeom prst="rect">
            <a:avLst/>
          </a:prstGeom>
          <a:ln w="0">
            <a:noFill/>
          </a:ln>
        </p:spPr>
      </p:pic>
      <p:pic>
        <p:nvPicPr>
          <p:cNvPr id="236" name="object 7" descr=""/>
          <p:cNvPicPr/>
          <p:nvPr/>
        </p:nvPicPr>
        <p:blipFill>
          <a:blip r:embed="rId3"/>
          <a:stretch/>
        </p:blipFill>
        <p:spPr>
          <a:xfrm>
            <a:off x="4880520" y="918720"/>
            <a:ext cx="4050360" cy="2179080"/>
          </a:xfrm>
          <a:prstGeom prst="rect">
            <a:avLst/>
          </a:prstGeom>
          <a:ln w="0">
            <a:noFill/>
          </a:ln>
        </p:spPr>
      </p:pic>
      <p:pic>
        <p:nvPicPr>
          <p:cNvPr id="237" name="object 8" descr=""/>
          <p:cNvPicPr/>
          <p:nvPr/>
        </p:nvPicPr>
        <p:blipFill>
          <a:blip r:embed="rId4"/>
          <a:stretch/>
        </p:blipFill>
        <p:spPr>
          <a:xfrm>
            <a:off x="4808520" y="3300480"/>
            <a:ext cx="4118760" cy="216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object 2"/>
          <p:cNvSpPr/>
          <p:nvPr/>
        </p:nvSpPr>
        <p:spPr>
          <a:xfrm>
            <a:off x="0" y="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" name="object 3"/>
          <p:cNvSpPr/>
          <p:nvPr/>
        </p:nvSpPr>
        <p:spPr>
          <a:xfrm>
            <a:off x="5580000" y="204480"/>
            <a:ext cx="3318120" cy="9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64080" indent="-522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Exploration</a:t>
            </a:r>
            <a:r>
              <a:rPr b="0" lang="fr-FR" sz="3200" spc="-177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52" strike="noStrike">
                <a:solidFill>
                  <a:srgbClr val="d2523b"/>
                </a:solidFill>
                <a:latin typeface="Arial"/>
                <a:ea typeface="DejaVu Sans"/>
              </a:rPr>
              <a:t>: </a:t>
            </a: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Corrélations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object 4"/>
          <p:cNvSpPr/>
          <p:nvPr/>
        </p:nvSpPr>
        <p:spPr>
          <a:xfrm>
            <a:off x="4520160" y="1186200"/>
            <a:ext cx="3272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34"/>
              </a:lnSpc>
            </a:pPr>
            <a:r>
              <a:rPr b="1" lang="fr-FR" sz="1300" spc="-26" strike="noStrike">
                <a:solidFill>
                  <a:srgbClr val="292934"/>
                </a:solidFill>
                <a:latin typeface="Arial"/>
                <a:ea typeface="DejaVu Sans"/>
              </a:rPr>
              <a:t>XXX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object 5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object 6" descr=""/>
          <p:cNvPicPr/>
          <p:nvPr/>
        </p:nvPicPr>
        <p:blipFill>
          <a:blip r:embed="rId1"/>
          <a:stretch/>
        </p:blipFill>
        <p:spPr>
          <a:xfrm>
            <a:off x="-180000" y="379080"/>
            <a:ext cx="5767200" cy="5298480"/>
          </a:xfrm>
          <a:prstGeom prst="rect">
            <a:avLst/>
          </a:prstGeom>
          <a:ln w="0">
            <a:noFill/>
          </a:ln>
        </p:spPr>
      </p:pic>
      <p:sp>
        <p:nvSpPr>
          <p:cNvPr id="243" name="object 7"/>
          <p:cNvSpPr/>
          <p:nvPr/>
        </p:nvSpPr>
        <p:spPr>
          <a:xfrm>
            <a:off x="5587920" y="1117800"/>
            <a:ext cx="3271320" cy="13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2200" bIns="0" anchor="t">
            <a:spAutoFit/>
          </a:bodyPr>
          <a:p>
            <a:pPr marL="12600">
              <a:lnSpc>
                <a:spcPct val="100000"/>
              </a:lnSpc>
              <a:spcBef>
                <a:spcPts val="408"/>
              </a:spcBef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Points</a:t>
            </a:r>
            <a:r>
              <a:rPr b="1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Majeurs: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b="0" lang="fr-FR" sz="13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Consommation: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importante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3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26" strike="noStrike">
                <a:solidFill>
                  <a:srgbClr val="292934"/>
                </a:solidFill>
                <a:latin typeface="Arial"/>
                <a:ea typeface="DejaVu Sans"/>
              </a:rPr>
              <a:t>la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avec: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PropertyGFATotal,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0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PropertyGFABuilding,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0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LargestPropertyUseTypeFGA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object 8"/>
          <p:cNvSpPr/>
          <p:nvPr/>
        </p:nvSpPr>
        <p:spPr>
          <a:xfrm>
            <a:off x="5587920" y="2783160"/>
            <a:ext cx="3352680" cy="25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fr-FR" sz="13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Emissions:</a:t>
            </a:r>
            <a:r>
              <a:rPr b="0" lang="fr-FR" sz="13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Mêmes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corrélations</a:t>
            </a:r>
            <a:r>
              <a:rPr b="0" lang="fr-FR" sz="13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(dans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moindre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mesure)</a:t>
            </a:r>
            <a:r>
              <a:rPr b="0" lang="fr-FR" sz="13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importante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Autres</a:t>
            </a:r>
            <a:r>
              <a:rPr b="1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points</a:t>
            </a:r>
            <a:r>
              <a:rPr b="1" lang="fr-FR" sz="13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notables: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importante</a:t>
            </a:r>
            <a:r>
              <a:rPr b="0" lang="fr-FR" sz="13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entre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30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PropertyGFATotal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PropertyGFABuildings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1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PropertyFGATotal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LargestPropertyUseTypeGFA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1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LargestPropertyUseTypeGFA</a:t>
            </a:r>
            <a:r>
              <a:rPr b="0" lang="fr-FR" sz="900" spc="43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94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PropertyFGABuilding(s)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69800"/>
                <a:tab algn="l" pos="47052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469800"/>
                <a:tab algn="l" pos="470520"/>
              </a:tabLst>
            </a:pP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13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pas</a:t>
            </a:r>
            <a:r>
              <a:rPr b="0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corrélation notable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801000" y="2264400"/>
            <a:ext cx="6038640" cy="241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800" spc="-41" strike="noStrike">
                <a:solidFill>
                  <a:srgbClr val="f3f1dc"/>
                </a:solidFill>
                <a:latin typeface="Arial"/>
              </a:rPr>
              <a:t>III</a:t>
            </a:r>
            <a:r>
              <a:rPr b="0" lang="fr-FR" sz="4800" spc="-23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</a:rPr>
              <a:t>–</a:t>
            </a:r>
            <a:r>
              <a:rPr b="0" lang="fr-FR" sz="4800" spc="-21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86" strike="noStrike">
                <a:solidFill>
                  <a:srgbClr val="f3f1dc"/>
                </a:solidFill>
                <a:latin typeface="Arial"/>
              </a:rPr>
              <a:t>PISTES</a:t>
            </a:r>
            <a:r>
              <a:rPr b="0" lang="fr-FR" sz="4800" spc="-245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26" strike="noStrike">
                <a:solidFill>
                  <a:srgbClr val="f3f1dc"/>
                </a:solidFill>
                <a:latin typeface="Arial"/>
              </a:rPr>
              <a:t>DE </a:t>
            </a:r>
            <a:r>
              <a:rPr b="0" lang="fr-FR" sz="4800" spc="-126" strike="noStrike">
                <a:solidFill>
                  <a:srgbClr val="f3f1dc"/>
                </a:solidFill>
                <a:latin typeface="Arial"/>
              </a:rPr>
              <a:t>MODÉLISATIONS</a:t>
            </a:r>
            <a:br>
              <a:rPr sz="4800"/>
            </a:br>
            <a:r>
              <a:rPr b="0" lang="fr-FR" sz="4800" spc="-126" strike="noStrike">
                <a:solidFill>
                  <a:srgbClr val="f3f1dc"/>
                </a:solidFill>
                <a:latin typeface="Arial"/>
              </a:rPr>
              <a:t>TotalGHGEmissions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object 3"/>
          <p:cNvSpPr/>
          <p:nvPr/>
        </p:nvSpPr>
        <p:spPr>
          <a:xfrm>
            <a:off x="7700040" y="27000"/>
            <a:ext cx="203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11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object 2"/>
          <p:cNvGrpSpPr/>
          <p:nvPr/>
        </p:nvGrpSpPr>
        <p:grpSpPr>
          <a:xfrm>
            <a:off x="2267640" y="1273320"/>
            <a:ext cx="4692960" cy="3598200"/>
            <a:chOff x="2267640" y="1273320"/>
            <a:chExt cx="4692960" cy="3598200"/>
          </a:xfrm>
        </p:grpSpPr>
        <p:sp>
          <p:nvSpPr>
            <p:cNvPr id="248" name="object 3"/>
            <p:cNvSpPr/>
            <p:nvPr/>
          </p:nvSpPr>
          <p:spPr>
            <a:xfrm>
              <a:off x="2267640" y="1273320"/>
              <a:ext cx="4692960" cy="3598200"/>
            </a:xfrm>
            <a:custGeom>
              <a:avLst/>
              <a:gdLst>
                <a:gd name="textAreaLeft" fmla="*/ 0 w 4692960"/>
                <a:gd name="textAreaRight" fmla="*/ 4695120 w 4692960"/>
                <a:gd name="textAreaTop" fmla="*/ 0 h 3598200"/>
                <a:gd name="textAreaBottom" fmla="*/ 3600360 h 3598200"/>
              </a:gdLst>
              <a:ahLst/>
              <a:rect l="textAreaLeft" t="textAreaTop" r="textAreaRight" b="textAreaBottom"/>
              <a:pathLst>
                <a:path w="4695190" h="3600450">
                  <a:moveTo>
                    <a:pt x="4695063" y="0"/>
                  </a:moveTo>
                  <a:lnTo>
                    <a:pt x="0" y="0"/>
                  </a:lnTo>
                  <a:lnTo>
                    <a:pt x="0" y="3600450"/>
                  </a:lnTo>
                  <a:lnTo>
                    <a:pt x="4695063" y="3600450"/>
                  </a:lnTo>
                  <a:lnTo>
                    <a:pt x="4695063" y="0"/>
                  </a:lnTo>
                  <a:close/>
                </a:path>
              </a:pathLst>
            </a:custGeom>
            <a:solidFill>
              <a:srgbClr val="e9e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9" name="object 4"/>
            <p:cNvSpPr/>
            <p:nvPr/>
          </p:nvSpPr>
          <p:spPr>
            <a:xfrm>
              <a:off x="2267640" y="1273320"/>
              <a:ext cx="4692960" cy="3598200"/>
            </a:xfrm>
            <a:custGeom>
              <a:avLst/>
              <a:gdLst>
                <a:gd name="textAreaLeft" fmla="*/ 0 w 4692960"/>
                <a:gd name="textAreaRight" fmla="*/ 4695120 w 4692960"/>
                <a:gd name="textAreaTop" fmla="*/ 0 h 3598200"/>
                <a:gd name="textAreaBottom" fmla="*/ 3600360 h 3598200"/>
              </a:gdLst>
              <a:ahLst/>
              <a:rect l="textAreaLeft" t="textAreaTop" r="textAreaRight" b="textAreaBottom"/>
              <a:pathLst>
                <a:path w="4695190" h="3600450">
                  <a:moveTo>
                    <a:pt x="0" y="3600450"/>
                  </a:moveTo>
                  <a:lnTo>
                    <a:pt x="4695063" y="3600450"/>
                  </a:lnTo>
                  <a:lnTo>
                    <a:pt x="4695063" y="0"/>
                  </a:lnTo>
                  <a:lnTo>
                    <a:pt x="0" y="0"/>
                  </a:lnTo>
                  <a:lnTo>
                    <a:pt x="0" y="3600450"/>
                  </a:lnTo>
                  <a:close/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0" name="object 5"/>
            <p:cNvSpPr/>
            <p:nvPr/>
          </p:nvSpPr>
          <p:spPr>
            <a:xfrm>
              <a:off x="2271600" y="2634840"/>
              <a:ext cx="303840" cy="356040"/>
            </a:xfrm>
            <a:custGeom>
              <a:avLst/>
              <a:gdLst>
                <a:gd name="textAreaLeft" fmla="*/ 0 w 303840"/>
                <a:gd name="textAreaRight" fmla="*/ 306000 w 303840"/>
                <a:gd name="textAreaTop" fmla="*/ 0 h 356040"/>
                <a:gd name="textAreaBottom" fmla="*/ 358200 h 356040"/>
              </a:gdLst>
              <a:ahLst/>
              <a:rect l="textAreaLeft" t="textAreaTop" r="textAreaRight" b="textAreaBottom"/>
              <a:pathLst>
                <a:path w="306069" h="358139">
                  <a:moveTo>
                    <a:pt x="152907" y="0"/>
                  </a:moveTo>
                  <a:lnTo>
                    <a:pt x="152907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2907" y="286257"/>
                  </a:lnTo>
                  <a:lnTo>
                    <a:pt x="152907" y="357758"/>
                  </a:lnTo>
                  <a:lnTo>
                    <a:pt x="305815" y="178815"/>
                  </a:lnTo>
                  <a:lnTo>
                    <a:pt x="152907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1" name="object 6"/>
            <p:cNvSpPr/>
            <p:nvPr/>
          </p:nvSpPr>
          <p:spPr>
            <a:xfrm>
              <a:off x="2704320" y="212724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1305306" y="0"/>
                  </a:moveTo>
                  <a:lnTo>
                    <a:pt x="137160" y="0"/>
                  </a:lnTo>
                  <a:lnTo>
                    <a:pt x="93780" y="6999"/>
                  </a:lnTo>
                  <a:lnTo>
                    <a:pt x="56125" y="26489"/>
                  </a:lnTo>
                  <a:lnTo>
                    <a:pt x="26444" y="56208"/>
                  </a:lnTo>
                  <a:lnTo>
                    <a:pt x="6986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86" y="1278848"/>
                  </a:lnTo>
                  <a:lnTo>
                    <a:pt x="26444" y="1316534"/>
                  </a:lnTo>
                  <a:lnTo>
                    <a:pt x="56125" y="1346253"/>
                  </a:lnTo>
                  <a:lnTo>
                    <a:pt x="93780" y="1365743"/>
                  </a:lnTo>
                  <a:lnTo>
                    <a:pt x="137160" y="1372743"/>
                  </a:lnTo>
                  <a:lnTo>
                    <a:pt x="1305306" y="1372743"/>
                  </a:lnTo>
                  <a:lnTo>
                    <a:pt x="1348698" y="1365743"/>
                  </a:lnTo>
                  <a:lnTo>
                    <a:pt x="1386384" y="1346253"/>
                  </a:lnTo>
                  <a:lnTo>
                    <a:pt x="1416103" y="1316534"/>
                  </a:lnTo>
                  <a:lnTo>
                    <a:pt x="1435593" y="1278848"/>
                  </a:lnTo>
                  <a:lnTo>
                    <a:pt x="1442592" y="1235456"/>
                  </a:lnTo>
                  <a:lnTo>
                    <a:pt x="1442592" y="137287"/>
                  </a:lnTo>
                  <a:lnTo>
                    <a:pt x="1435593" y="93894"/>
                  </a:lnTo>
                  <a:lnTo>
                    <a:pt x="1416103" y="56208"/>
                  </a:lnTo>
                  <a:lnTo>
                    <a:pt x="1386384" y="26489"/>
                  </a:lnTo>
                  <a:lnTo>
                    <a:pt x="1348698" y="6999"/>
                  </a:lnTo>
                  <a:lnTo>
                    <a:pt x="130530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2" name="object 7"/>
            <p:cNvSpPr/>
            <p:nvPr/>
          </p:nvSpPr>
          <p:spPr>
            <a:xfrm>
              <a:off x="2704320" y="212724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0" y="137287"/>
                  </a:moveTo>
                  <a:lnTo>
                    <a:pt x="6986" y="93894"/>
                  </a:lnTo>
                  <a:lnTo>
                    <a:pt x="26444" y="56208"/>
                  </a:lnTo>
                  <a:lnTo>
                    <a:pt x="56125" y="26489"/>
                  </a:lnTo>
                  <a:lnTo>
                    <a:pt x="93780" y="6999"/>
                  </a:lnTo>
                  <a:lnTo>
                    <a:pt x="137160" y="0"/>
                  </a:lnTo>
                  <a:lnTo>
                    <a:pt x="1305306" y="0"/>
                  </a:lnTo>
                  <a:lnTo>
                    <a:pt x="1348698" y="6999"/>
                  </a:lnTo>
                  <a:lnTo>
                    <a:pt x="1386384" y="26489"/>
                  </a:lnTo>
                  <a:lnTo>
                    <a:pt x="1416103" y="56208"/>
                  </a:lnTo>
                  <a:lnTo>
                    <a:pt x="1435593" y="93894"/>
                  </a:lnTo>
                  <a:lnTo>
                    <a:pt x="1442592" y="137287"/>
                  </a:lnTo>
                  <a:lnTo>
                    <a:pt x="1442592" y="1235456"/>
                  </a:lnTo>
                  <a:lnTo>
                    <a:pt x="1435593" y="1278848"/>
                  </a:lnTo>
                  <a:lnTo>
                    <a:pt x="1416103" y="1316534"/>
                  </a:lnTo>
                  <a:lnTo>
                    <a:pt x="1386384" y="1346253"/>
                  </a:lnTo>
                  <a:lnTo>
                    <a:pt x="1348698" y="1365743"/>
                  </a:lnTo>
                  <a:lnTo>
                    <a:pt x="1305306" y="1372743"/>
                  </a:lnTo>
                  <a:lnTo>
                    <a:pt x="137160" y="1372743"/>
                  </a:lnTo>
                  <a:lnTo>
                    <a:pt x="93780" y="1365743"/>
                  </a:lnTo>
                  <a:lnTo>
                    <a:pt x="56125" y="1346253"/>
                  </a:lnTo>
                  <a:lnTo>
                    <a:pt x="26444" y="1316534"/>
                  </a:lnTo>
                  <a:lnTo>
                    <a:pt x="6986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consommation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35" strike="noStrike">
                <a:solidFill>
                  <a:srgbClr val="d2523b"/>
                </a:solidFill>
                <a:latin typeface="Arial"/>
              </a:rPr>
              <a:t>démarche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object 9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5" name="object 10"/>
          <p:cNvGrpSpPr/>
          <p:nvPr/>
        </p:nvGrpSpPr>
        <p:grpSpPr>
          <a:xfrm>
            <a:off x="684720" y="2127240"/>
            <a:ext cx="1440720" cy="1370880"/>
            <a:chOff x="684720" y="2127240"/>
            <a:chExt cx="1440720" cy="1370880"/>
          </a:xfrm>
        </p:grpSpPr>
        <p:sp>
          <p:nvSpPr>
            <p:cNvPr id="256" name="object 11"/>
            <p:cNvSpPr/>
            <p:nvPr/>
          </p:nvSpPr>
          <p:spPr>
            <a:xfrm>
              <a:off x="684720" y="212724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1305356" y="0"/>
                  </a:moveTo>
                  <a:lnTo>
                    <a:pt x="137274" y="0"/>
                  </a:lnTo>
                  <a:lnTo>
                    <a:pt x="93888" y="6999"/>
                  </a:lnTo>
                  <a:lnTo>
                    <a:pt x="56205" y="26489"/>
                  </a:lnTo>
                  <a:lnTo>
                    <a:pt x="26488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8" y="1316534"/>
                  </a:lnTo>
                  <a:lnTo>
                    <a:pt x="56205" y="1346253"/>
                  </a:lnTo>
                  <a:lnTo>
                    <a:pt x="93888" y="1365743"/>
                  </a:lnTo>
                  <a:lnTo>
                    <a:pt x="137274" y="1372743"/>
                  </a:lnTo>
                  <a:lnTo>
                    <a:pt x="1305356" y="1372743"/>
                  </a:lnTo>
                  <a:lnTo>
                    <a:pt x="1348749" y="1365743"/>
                  </a:lnTo>
                  <a:lnTo>
                    <a:pt x="1386435" y="1346253"/>
                  </a:lnTo>
                  <a:lnTo>
                    <a:pt x="1416154" y="1316534"/>
                  </a:lnTo>
                  <a:lnTo>
                    <a:pt x="1435644" y="1278848"/>
                  </a:lnTo>
                  <a:lnTo>
                    <a:pt x="1442643" y="1235456"/>
                  </a:lnTo>
                  <a:lnTo>
                    <a:pt x="1442643" y="137287"/>
                  </a:lnTo>
                  <a:lnTo>
                    <a:pt x="1435644" y="93894"/>
                  </a:lnTo>
                  <a:lnTo>
                    <a:pt x="1416154" y="56208"/>
                  </a:lnTo>
                  <a:lnTo>
                    <a:pt x="1386435" y="26489"/>
                  </a:lnTo>
                  <a:lnTo>
                    <a:pt x="1348749" y="6999"/>
                  </a:lnTo>
                  <a:lnTo>
                    <a:pt x="130535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7" name="object 12"/>
            <p:cNvSpPr/>
            <p:nvPr/>
          </p:nvSpPr>
          <p:spPr>
            <a:xfrm>
              <a:off x="684720" y="212724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8" y="56208"/>
                  </a:lnTo>
                  <a:lnTo>
                    <a:pt x="56205" y="26489"/>
                  </a:lnTo>
                  <a:lnTo>
                    <a:pt x="93888" y="6999"/>
                  </a:lnTo>
                  <a:lnTo>
                    <a:pt x="137274" y="0"/>
                  </a:lnTo>
                  <a:lnTo>
                    <a:pt x="1305356" y="0"/>
                  </a:lnTo>
                  <a:lnTo>
                    <a:pt x="1348749" y="6999"/>
                  </a:lnTo>
                  <a:lnTo>
                    <a:pt x="1386435" y="26489"/>
                  </a:lnTo>
                  <a:lnTo>
                    <a:pt x="1416154" y="56208"/>
                  </a:lnTo>
                  <a:lnTo>
                    <a:pt x="1435644" y="93894"/>
                  </a:lnTo>
                  <a:lnTo>
                    <a:pt x="1442643" y="137287"/>
                  </a:lnTo>
                  <a:lnTo>
                    <a:pt x="1442643" y="1235456"/>
                  </a:lnTo>
                  <a:lnTo>
                    <a:pt x="1435644" y="1278848"/>
                  </a:lnTo>
                  <a:lnTo>
                    <a:pt x="1416154" y="1316534"/>
                  </a:lnTo>
                  <a:lnTo>
                    <a:pt x="1386435" y="1346253"/>
                  </a:lnTo>
                  <a:lnTo>
                    <a:pt x="1348749" y="1365743"/>
                  </a:lnTo>
                  <a:lnTo>
                    <a:pt x="1305356" y="1372743"/>
                  </a:lnTo>
                  <a:lnTo>
                    <a:pt x="137274" y="1372743"/>
                  </a:lnTo>
                  <a:lnTo>
                    <a:pt x="93888" y="1365743"/>
                  </a:lnTo>
                  <a:lnTo>
                    <a:pt x="56205" y="1346253"/>
                  </a:lnTo>
                  <a:lnTo>
                    <a:pt x="26488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8" name="object 13"/>
          <p:cNvSpPr/>
          <p:nvPr/>
        </p:nvSpPr>
        <p:spPr>
          <a:xfrm>
            <a:off x="819000" y="2313000"/>
            <a:ext cx="1171440" cy="9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algn="ctr">
              <a:lnSpc>
                <a:spcPts val="1565"/>
              </a:lnSpc>
              <a:spcBef>
                <a:spcPts val="105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Séparation</a:t>
            </a:r>
            <a:r>
              <a:rPr b="0" lang="fr-FR" sz="1400" spc="-60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565"/>
              </a:lnSpc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données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42640" indent="-1440" algn="ctr">
              <a:lnSpc>
                <a:spcPct val="86000"/>
              </a:lnSpc>
              <a:spcBef>
                <a:spcPts val="564"/>
              </a:spcBef>
              <a:tabLst>
                <a:tab algn="l" pos="0"/>
              </a:tabLst>
            </a:pPr>
            <a:r>
              <a:rPr b="0" i="1" lang="fr-FR" sz="1200" spc="-12" strike="noStrike">
                <a:solidFill>
                  <a:srgbClr val="ffffff"/>
                </a:solidFill>
                <a:latin typeface="Arial"/>
                <a:ea typeface="DejaVu Sans"/>
              </a:rPr>
              <a:t>train/ validation/ </a:t>
            </a:r>
            <a:r>
              <a:rPr b="0" i="1" lang="fr-FR" sz="1200" spc="-21" strike="noStrike">
                <a:solidFill>
                  <a:srgbClr val="ffffff"/>
                </a:solidFill>
                <a:latin typeface="Arial"/>
                <a:ea typeface="DejaVu Sans"/>
              </a:rPr>
              <a:t>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object 14"/>
          <p:cNvSpPr/>
          <p:nvPr/>
        </p:nvSpPr>
        <p:spPr>
          <a:xfrm>
            <a:off x="2842560" y="2585880"/>
            <a:ext cx="11782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9000" indent="-9360">
              <a:lnSpc>
                <a:spcPts val="1451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Définition</a:t>
            </a:r>
            <a:r>
              <a:rPr b="0" lang="fr-FR" sz="14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grille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4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0" name="object 15"/>
          <p:cNvGrpSpPr/>
          <p:nvPr/>
        </p:nvGrpSpPr>
        <p:grpSpPr>
          <a:xfrm>
            <a:off x="4291200" y="2127240"/>
            <a:ext cx="2140560" cy="1370880"/>
            <a:chOff x="4291200" y="2127240"/>
            <a:chExt cx="2140560" cy="1370880"/>
          </a:xfrm>
        </p:grpSpPr>
        <p:sp>
          <p:nvSpPr>
            <p:cNvPr id="261" name="object 16"/>
            <p:cNvSpPr/>
            <p:nvPr/>
          </p:nvSpPr>
          <p:spPr>
            <a:xfrm>
              <a:off x="4291200" y="2634840"/>
              <a:ext cx="303840" cy="356040"/>
            </a:xfrm>
            <a:custGeom>
              <a:avLst/>
              <a:gdLst>
                <a:gd name="textAreaLeft" fmla="*/ 0 w 303840"/>
                <a:gd name="textAreaRight" fmla="*/ 306000 w 303840"/>
                <a:gd name="textAreaTop" fmla="*/ 0 h 356040"/>
                <a:gd name="textAreaBottom" fmla="*/ 358200 h 356040"/>
              </a:gdLst>
              <a:ahLst/>
              <a:rect l="textAreaLeft" t="textAreaTop" r="textAreaRight" b="textAreaBottom"/>
              <a:pathLst>
                <a:path w="306070" h="358139">
                  <a:moveTo>
                    <a:pt x="152908" y="0"/>
                  </a:moveTo>
                  <a:lnTo>
                    <a:pt x="152908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2908" y="286257"/>
                  </a:lnTo>
                  <a:lnTo>
                    <a:pt x="152908" y="357758"/>
                  </a:lnTo>
                  <a:lnTo>
                    <a:pt x="305816" y="178815"/>
                  </a:lnTo>
                  <a:lnTo>
                    <a:pt x="152908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2" name="object 17"/>
            <p:cNvSpPr/>
            <p:nvPr/>
          </p:nvSpPr>
          <p:spPr>
            <a:xfrm>
              <a:off x="4723920" y="2127240"/>
              <a:ext cx="1707840" cy="1370880"/>
            </a:xfrm>
            <a:custGeom>
              <a:avLst/>
              <a:gdLst>
                <a:gd name="textAreaLeft" fmla="*/ 0 w 1707840"/>
                <a:gd name="textAreaRight" fmla="*/ 1710000 w 170784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710054" h="1372870">
                  <a:moveTo>
                    <a:pt x="1572641" y="0"/>
                  </a:moveTo>
                  <a:lnTo>
                    <a:pt x="137287" y="0"/>
                  </a:lnTo>
                  <a:lnTo>
                    <a:pt x="93894" y="6999"/>
                  </a:lnTo>
                  <a:lnTo>
                    <a:pt x="56208" y="26489"/>
                  </a:lnTo>
                  <a:lnTo>
                    <a:pt x="26489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9" y="1316534"/>
                  </a:lnTo>
                  <a:lnTo>
                    <a:pt x="56208" y="1346253"/>
                  </a:lnTo>
                  <a:lnTo>
                    <a:pt x="93894" y="1365743"/>
                  </a:lnTo>
                  <a:lnTo>
                    <a:pt x="137287" y="1372743"/>
                  </a:lnTo>
                  <a:lnTo>
                    <a:pt x="1572641" y="1372743"/>
                  </a:lnTo>
                  <a:lnTo>
                    <a:pt x="1616033" y="1365743"/>
                  </a:lnTo>
                  <a:lnTo>
                    <a:pt x="1653719" y="1346253"/>
                  </a:lnTo>
                  <a:lnTo>
                    <a:pt x="1683438" y="1316534"/>
                  </a:lnTo>
                  <a:lnTo>
                    <a:pt x="1702928" y="1278848"/>
                  </a:lnTo>
                  <a:lnTo>
                    <a:pt x="1709928" y="1235456"/>
                  </a:lnTo>
                  <a:lnTo>
                    <a:pt x="1709928" y="137287"/>
                  </a:lnTo>
                  <a:lnTo>
                    <a:pt x="1702928" y="93894"/>
                  </a:lnTo>
                  <a:lnTo>
                    <a:pt x="1683438" y="56208"/>
                  </a:lnTo>
                  <a:lnTo>
                    <a:pt x="1653719" y="26489"/>
                  </a:lnTo>
                  <a:lnTo>
                    <a:pt x="1616033" y="6999"/>
                  </a:lnTo>
                  <a:lnTo>
                    <a:pt x="1572641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3" name="object 18"/>
            <p:cNvSpPr/>
            <p:nvPr/>
          </p:nvSpPr>
          <p:spPr>
            <a:xfrm>
              <a:off x="4723920" y="2127240"/>
              <a:ext cx="1707840" cy="1370880"/>
            </a:xfrm>
            <a:custGeom>
              <a:avLst/>
              <a:gdLst>
                <a:gd name="textAreaLeft" fmla="*/ 0 w 1707840"/>
                <a:gd name="textAreaRight" fmla="*/ 1710000 w 170784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710054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9" y="56208"/>
                  </a:lnTo>
                  <a:lnTo>
                    <a:pt x="56208" y="26489"/>
                  </a:lnTo>
                  <a:lnTo>
                    <a:pt x="93894" y="6999"/>
                  </a:lnTo>
                  <a:lnTo>
                    <a:pt x="137287" y="0"/>
                  </a:lnTo>
                  <a:lnTo>
                    <a:pt x="1572641" y="0"/>
                  </a:lnTo>
                  <a:lnTo>
                    <a:pt x="1616033" y="6999"/>
                  </a:lnTo>
                  <a:lnTo>
                    <a:pt x="1653719" y="26489"/>
                  </a:lnTo>
                  <a:lnTo>
                    <a:pt x="1683438" y="56208"/>
                  </a:lnTo>
                  <a:lnTo>
                    <a:pt x="1702928" y="93894"/>
                  </a:lnTo>
                  <a:lnTo>
                    <a:pt x="1709928" y="137287"/>
                  </a:lnTo>
                  <a:lnTo>
                    <a:pt x="1709928" y="1235456"/>
                  </a:lnTo>
                  <a:lnTo>
                    <a:pt x="1702928" y="1278848"/>
                  </a:lnTo>
                  <a:lnTo>
                    <a:pt x="1683438" y="1316534"/>
                  </a:lnTo>
                  <a:lnTo>
                    <a:pt x="1653719" y="1346253"/>
                  </a:lnTo>
                  <a:lnTo>
                    <a:pt x="1616033" y="1365743"/>
                  </a:lnTo>
                  <a:lnTo>
                    <a:pt x="1572641" y="1372743"/>
                  </a:lnTo>
                  <a:lnTo>
                    <a:pt x="137287" y="1372743"/>
                  </a:lnTo>
                  <a:lnTo>
                    <a:pt x="93894" y="1365743"/>
                  </a:lnTo>
                  <a:lnTo>
                    <a:pt x="56208" y="1346253"/>
                  </a:lnTo>
                  <a:lnTo>
                    <a:pt x="26489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4" name="object 19"/>
          <p:cNvSpPr/>
          <p:nvPr/>
        </p:nvSpPr>
        <p:spPr>
          <a:xfrm>
            <a:off x="4818240" y="2176560"/>
            <a:ext cx="1404360" cy="12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Entrainement</a:t>
            </a:r>
            <a:r>
              <a:rPr b="0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des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86000"/>
              </a:lnSpc>
              <a:spcBef>
                <a:spcPts val="570"/>
              </a:spcBef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r>
              <a:rPr b="0" lang="fr-FR" sz="105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r>
              <a:rPr b="0" lang="fr-FR" sz="105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(toutes</a:t>
            </a:r>
            <a:r>
              <a:rPr b="0" i="1" lang="fr-FR" sz="105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26" strike="noStrike">
                <a:solidFill>
                  <a:srgbClr val="ffffff"/>
                </a:solidFill>
                <a:latin typeface="Arial"/>
                <a:ea typeface="DejaVu Sans"/>
              </a:rPr>
              <a:t>les </a:t>
            </a:r>
            <a:r>
              <a:rPr b="0" i="1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combinaisons</a:t>
            </a:r>
            <a:r>
              <a:rPr b="0" i="1" lang="fr-FR" sz="105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26" strike="noStrike">
                <a:solidFill>
                  <a:srgbClr val="ffffff"/>
                </a:solidFill>
                <a:latin typeface="Arial"/>
                <a:ea typeface="DejaVu Sans"/>
              </a:rPr>
              <a:t>de </a:t>
            </a:r>
            <a:r>
              <a:rPr b="0" i="1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100000"/>
              </a:lnSpc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05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training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100000"/>
              </a:lnSpc>
              <a:spcBef>
                <a:spcPts val="11"/>
              </a:spcBef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Cross-validation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5" name="object 20"/>
          <p:cNvGrpSpPr/>
          <p:nvPr/>
        </p:nvGrpSpPr>
        <p:grpSpPr>
          <a:xfrm>
            <a:off x="6577920" y="2127240"/>
            <a:ext cx="2023200" cy="1370880"/>
            <a:chOff x="6577920" y="2127240"/>
            <a:chExt cx="2023200" cy="1370880"/>
          </a:xfrm>
        </p:grpSpPr>
        <p:sp>
          <p:nvSpPr>
            <p:cNvPr id="266" name="object 21"/>
            <p:cNvSpPr/>
            <p:nvPr/>
          </p:nvSpPr>
          <p:spPr>
            <a:xfrm>
              <a:off x="6577920" y="2634840"/>
              <a:ext cx="303840" cy="356040"/>
            </a:xfrm>
            <a:custGeom>
              <a:avLst/>
              <a:gdLst>
                <a:gd name="textAreaLeft" fmla="*/ 0 w 303840"/>
                <a:gd name="textAreaRight" fmla="*/ 306000 w 303840"/>
                <a:gd name="textAreaTop" fmla="*/ 0 h 356040"/>
                <a:gd name="textAreaBottom" fmla="*/ 358200 h 356040"/>
              </a:gdLst>
              <a:ahLst/>
              <a:rect l="textAreaLeft" t="textAreaTop" r="textAreaRight" b="textAreaBottom"/>
              <a:pathLst>
                <a:path w="306070" h="358139">
                  <a:moveTo>
                    <a:pt x="153034" y="0"/>
                  </a:moveTo>
                  <a:lnTo>
                    <a:pt x="153034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3034" y="286257"/>
                  </a:lnTo>
                  <a:lnTo>
                    <a:pt x="153034" y="357758"/>
                  </a:lnTo>
                  <a:lnTo>
                    <a:pt x="305942" y="178815"/>
                  </a:lnTo>
                  <a:lnTo>
                    <a:pt x="153034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7" name="object 22"/>
            <p:cNvSpPr/>
            <p:nvPr/>
          </p:nvSpPr>
          <p:spPr>
            <a:xfrm>
              <a:off x="7010640" y="2127240"/>
              <a:ext cx="1590480" cy="1370880"/>
            </a:xfrm>
            <a:custGeom>
              <a:avLst/>
              <a:gdLst>
                <a:gd name="textAreaLeft" fmla="*/ 0 w 1590480"/>
                <a:gd name="textAreaRight" fmla="*/ 1592640 w 159048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592579" h="1372870">
                  <a:moveTo>
                    <a:pt x="1455293" y="0"/>
                  </a:moveTo>
                  <a:lnTo>
                    <a:pt x="137287" y="0"/>
                  </a:lnTo>
                  <a:lnTo>
                    <a:pt x="93894" y="6999"/>
                  </a:lnTo>
                  <a:lnTo>
                    <a:pt x="56208" y="26489"/>
                  </a:lnTo>
                  <a:lnTo>
                    <a:pt x="26489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9" y="1316534"/>
                  </a:lnTo>
                  <a:lnTo>
                    <a:pt x="56208" y="1346253"/>
                  </a:lnTo>
                  <a:lnTo>
                    <a:pt x="93894" y="1365743"/>
                  </a:lnTo>
                  <a:lnTo>
                    <a:pt x="137287" y="1372743"/>
                  </a:lnTo>
                  <a:lnTo>
                    <a:pt x="1455293" y="1372743"/>
                  </a:lnTo>
                  <a:lnTo>
                    <a:pt x="1498685" y="1365743"/>
                  </a:lnTo>
                  <a:lnTo>
                    <a:pt x="1536371" y="1346253"/>
                  </a:lnTo>
                  <a:lnTo>
                    <a:pt x="1566090" y="1316534"/>
                  </a:lnTo>
                  <a:lnTo>
                    <a:pt x="1585580" y="1278848"/>
                  </a:lnTo>
                  <a:lnTo>
                    <a:pt x="1592579" y="1235456"/>
                  </a:lnTo>
                  <a:lnTo>
                    <a:pt x="1592579" y="137287"/>
                  </a:lnTo>
                  <a:lnTo>
                    <a:pt x="1585580" y="93894"/>
                  </a:lnTo>
                  <a:lnTo>
                    <a:pt x="1566090" y="56208"/>
                  </a:lnTo>
                  <a:lnTo>
                    <a:pt x="1536371" y="26489"/>
                  </a:lnTo>
                  <a:lnTo>
                    <a:pt x="1498685" y="6999"/>
                  </a:lnTo>
                  <a:lnTo>
                    <a:pt x="145529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8" name="object 23"/>
            <p:cNvSpPr/>
            <p:nvPr/>
          </p:nvSpPr>
          <p:spPr>
            <a:xfrm>
              <a:off x="7010640" y="2127240"/>
              <a:ext cx="1590480" cy="1370880"/>
            </a:xfrm>
            <a:custGeom>
              <a:avLst/>
              <a:gdLst>
                <a:gd name="textAreaLeft" fmla="*/ 0 w 1590480"/>
                <a:gd name="textAreaRight" fmla="*/ 1592640 w 159048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592579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9" y="56208"/>
                  </a:lnTo>
                  <a:lnTo>
                    <a:pt x="56208" y="26489"/>
                  </a:lnTo>
                  <a:lnTo>
                    <a:pt x="93894" y="6999"/>
                  </a:lnTo>
                  <a:lnTo>
                    <a:pt x="137287" y="0"/>
                  </a:lnTo>
                  <a:lnTo>
                    <a:pt x="1455293" y="0"/>
                  </a:lnTo>
                  <a:lnTo>
                    <a:pt x="1498685" y="6999"/>
                  </a:lnTo>
                  <a:lnTo>
                    <a:pt x="1536371" y="26489"/>
                  </a:lnTo>
                  <a:lnTo>
                    <a:pt x="1566090" y="56208"/>
                  </a:lnTo>
                  <a:lnTo>
                    <a:pt x="1585580" y="93894"/>
                  </a:lnTo>
                  <a:lnTo>
                    <a:pt x="1592579" y="137287"/>
                  </a:lnTo>
                  <a:lnTo>
                    <a:pt x="1592579" y="1235456"/>
                  </a:lnTo>
                  <a:lnTo>
                    <a:pt x="1585580" y="1278848"/>
                  </a:lnTo>
                  <a:lnTo>
                    <a:pt x="1566090" y="1316534"/>
                  </a:lnTo>
                  <a:lnTo>
                    <a:pt x="1536371" y="1346253"/>
                  </a:lnTo>
                  <a:lnTo>
                    <a:pt x="1498685" y="1365743"/>
                  </a:lnTo>
                  <a:lnTo>
                    <a:pt x="1455293" y="1372743"/>
                  </a:lnTo>
                  <a:lnTo>
                    <a:pt x="137287" y="1372743"/>
                  </a:lnTo>
                  <a:lnTo>
                    <a:pt x="93894" y="1365743"/>
                  </a:lnTo>
                  <a:lnTo>
                    <a:pt x="56208" y="1346253"/>
                  </a:lnTo>
                  <a:lnTo>
                    <a:pt x="26489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9" name="object 24"/>
          <p:cNvSpPr/>
          <p:nvPr/>
        </p:nvSpPr>
        <p:spPr>
          <a:xfrm>
            <a:off x="7097760" y="2401560"/>
            <a:ext cx="14169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marL="12240" algn="ctr">
              <a:lnSpc>
                <a:spcPct val="86000"/>
              </a:lnSpc>
              <a:spcBef>
                <a:spcPts val="334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Comparaison</a:t>
            </a:r>
            <a:r>
              <a:rPr b="0" lang="fr-FR" sz="1400" spc="-7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des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r>
              <a:rPr b="0" lang="fr-FR" sz="1400" spc="-3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sur</a:t>
            </a:r>
            <a:r>
              <a:rPr b="0" lang="fr-FR" sz="14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la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0" lang="fr-FR" sz="14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validation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0" name="object 25"/>
          <p:cNvGrpSpPr/>
          <p:nvPr/>
        </p:nvGrpSpPr>
        <p:grpSpPr>
          <a:xfrm>
            <a:off x="3679200" y="3721680"/>
            <a:ext cx="1654560" cy="286200"/>
            <a:chOff x="3679200" y="3721680"/>
            <a:chExt cx="1654560" cy="286200"/>
          </a:xfrm>
        </p:grpSpPr>
        <p:sp>
          <p:nvSpPr>
            <p:cNvPr id="271" name="object 26"/>
            <p:cNvSpPr/>
            <p:nvPr/>
          </p:nvSpPr>
          <p:spPr>
            <a:xfrm>
              <a:off x="3679200" y="3721680"/>
              <a:ext cx="833400" cy="286200"/>
            </a:xfrm>
            <a:custGeom>
              <a:avLst/>
              <a:gdLst>
                <a:gd name="textAreaLeft" fmla="*/ 0 w 833400"/>
                <a:gd name="textAreaRight" fmla="*/ 835560 w 833400"/>
                <a:gd name="textAreaTop" fmla="*/ 0 h 286200"/>
                <a:gd name="textAreaBottom" fmla="*/ 288360 h 286200"/>
              </a:gdLst>
              <a:ahLst/>
              <a:rect l="textAreaLeft" t="textAreaTop" r="textAreaRight" b="textAreaBottom"/>
              <a:pathLst>
                <a:path w="835660" h="288289">
                  <a:moveTo>
                    <a:pt x="0" y="0"/>
                  </a:moveTo>
                  <a:lnTo>
                    <a:pt x="9778" y="125349"/>
                  </a:lnTo>
                  <a:lnTo>
                    <a:pt x="67310" y="125349"/>
                  </a:lnTo>
                  <a:lnTo>
                    <a:pt x="96681" y="144746"/>
                  </a:lnTo>
                  <a:lnTo>
                    <a:pt x="166564" y="180453"/>
                  </a:lnTo>
                  <a:lnTo>
                    <a:pt x="206639" y="196667"/>
                  </a:lnTo>
                  <a:lnTo>
                    <a:pt x="249846" y="211723"/>
                  </a:lnTo>
                  <a:lnTo>
                    <a:pt x="295968" y="225573"/>
                  </a:lnTo>
                  <a:lnTo>
                    <a:pt x="344788" y="238169"/>
                  </a:lnTo>
                  <a:lnTo>
                    <a:pt x="396087" y="249464"/>
                  </a:lnTo>
                  <a:lnTo>
                    <a:pt x="449648" y="259409"/>
                  </a:lnTo>
                  <a:lnTo>
                    <a:pt x="505253" y="267955"/>
                  </a:lnTo>
                  <a:lnTo>
                    <a:pt x="562684" y="275056"/>
                  </a:lnTo>
                  <a:lnTo>
                    <a:pt x="621724" y="280662"/>
                  </a:lnTo>
                  <a:lnTo>
                    <a:pt x="682156" y="284727"/>
                  </a:lnTo>
                  <a:lnTo>
                    <a:pt x="743761" y="287200"/>
                  </a:lnTo>
                  <a:lnTo>
                    <a:pt x="806323" y="288036"/>
                  </a:lnTo>
                  <a:lnTo>
                    <a:pt x="835406" y="288036"/>
                  </a:lnTo>
                  <a:lnTo>
                    <a:pt x="772844" y="287200"/>
                  </a:lnTo>
                  <a:lnTo>
                    <a:pt x="711239" y="284727"/>
                  </a:lnTo>
                  <a:lnTo>
                    <a:pt x="650807" y="280662"/>
                  </a:lnTo>
                  <a:lnTo>
                    <a:pt x="591767" y="275056"/>
                  </a:lnTo>
                  <a:lnTo>
                    <a:pt x="534336" y="267955"/>
                  </a:lnTo>
                  <a:lnTo>
                    <a:pt x="478731" y="259409"/>
                  </a:lnTo>
                  <a:lnTo>
                    <a:pt x="425170" y="249464"/>
                  </a:lnTo>
                  <a:lnTo>
                    <a:pt x="373871" y="238169"/>
                  </a:lnTo>
                  <a:lnTo>
                    <a:pt x="325051" y="225573"/>
                  </a:lnTo>
                  <a:lnTo>
                    <a:pt x="278929" y="211723"/>
                  </a:lnTo>
                  <a:lnTo>
                    <a:pt x="235722" y="196667"/>
                  </a:lnTo>
                  <a:lnTo>
                    <a:pt x="195647" y="180453"/>
                  </a:lnTo>
                  <a:lnTo>
                    <a:pt x="158922" y="163130"/>
                  </a:lnTo>
                  <a:lnTo>
                    <a:pt x="96392" y="125349"/>
                  </a:lnTo>
                  <a:lnTo>
                    <a:pt x="153797" y="125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2" name="object 27"/>
            <p:cNvSpPr/>
            <p:nvPr/>
          </p:nvSpPr>
          <p:spPr>
            <a:xfrm>
              <a:off x="4500000" y="3721680"/>
              <a:ext cx="833400" cy="286200"/>
            </a:xfrm>
            <a:custGeom>
              <a:avLst/>
              <a:gdLst>
                <a:gd name="textAreaLeft" fmla="*/ 0 w 833400"/>
                <a:gd name="textAreaRight" fmla="*/ 835560 w 833400"/>
                <a:gd name="textAreaTop" fmla="*/ 0 h 286200"/>
                <a:gd name="textAreaBottom" fmla="*/ 288360 h 286200"/>
              </a:gdLst>
              <a:ahLst/>
              <a:rect l="textAreaLeft" t="textAreaTop" r="textAreaRight" b="textAreaBottom"/>
              <a:pathLst>
                <a:path w="835660" h="288289">
                  <a:moveTo>
                    <a:pt x="835279" y="0"/>
                  </a:moveTo>
                  <a:lnTo>
                    <a:pt x="806323" y="0"/>
                  </a:lnTo>
                  <a:lnTo>
                    <a:pt x="803380" y="24550"/>
                  </a:lnTo>
                  <a:lnTo>
                    <a:pt x="794711" y="48535"/>
                  </a:lnTo>
                  <a:lnTo>
                    <a:pt x="761138" y="94470"/>
                  </a:lnTo>
                  <a:lnTo>
                    <a:pt x="707491" y="137132"/>
                  </a:lnTo>
                  <a:lnTo>
                    <a:pt x="673731" y="157024"/>
                  </a:lnTo>
                  <a:lnTo>
                    <a:pt x="635661" y="175845"/>
                  </a:lnTo>
                  <a:lnTo>
                    <a:pt x="593517" y="193509"/>
                  </a:lnTo>
                  <a:lnTo>
                    <a:pt x="547536" y="209934"/>
                  </a:lnTo>
                  <a:lnTo>
                    <a:pt x="497954" y="225034"/>
                  </a:lnTo>
                  <a:lnTo>
                    <a:pt x="445007" y="238725"/>
                  </a:lnTo>
                  <a:lnTo>
                    <a:pt x="388931" y="250924"/>
                  </a:lnTo>
                  <a:lnTo>
                    <a:pt x="329963" y="261544"/>
                  </a:lnTo>
                  <a:lnTo>
                    <a:pt x="268338" y="270503"/>
                  </a:lnTo>
                  <a:lnTo>
                    <a:pt x="204294" y="277716"/>
                  </a:lnTo>
                  <a:lnTo>
                    <a:pt x="138065" y="283099"/>
                  </a:lnTo>
                  <a:lnTo>
                    <a:pt x="69888" y="286567"/>
                  </a:lnTo>
                  <a:lnTo>
                    <a:pt x="0" y="288036"/>
                  </a:lnTo>
                  <a:lnTo>
                    <a:pt x="81789" y="287080"/>
                  </a:lnTo>
                  <a:lnTo>
                    <a:pt x="147603" y="284264"/>
                  </a:lnTo>
                  <a:lnTo>
                    <a:pt x="211708" y="279660"/>
                  </a:lnTo>
                  <a:lnTo>
                    <a:pt x="273894" y="273344"/>
                  </a:lnTo>
                  <a:lnTo>
                    <a:pt x="333948" y="265390"/>
                  </a:lnTo>
                  <a:lnTo>
                    <a:pt x="391659" y="255871"/>
                  </a:lnTo>
                  <a:lnTo>
                    <a:pt x="446817" y="244863"/>
                  </a:lnTo>
                  <a:lnTo>
                    <a:pt x="499209" y="232440"/>
                  </a:lnTo>
                  <a:lnTo>
                    <a:pt x="548624" y="218675"/>
                  </a:lnTo>
                  <a:lnTo>
                    <a:pt x="594852" y="203644"/>
                  </a:lnTo>
                  <a:lnTo>
                    <a:pt x="637679" y="187420"/>
                  </a:lnTo>
                  <a:lnTo>
                    <a:pt x="676896" y="170078"/>
                  </a:lnTo>
                  <a:lnTo>
                    <a:pt x="712291" y="151692"/>
                  </a:lnTo>
                  <a:lnTo>
                    <a:pt x="770768" y="112085"/>
                  </a:lnTo>
                  <a:lnTo>
                    <a:pt x="811421" y="69194"/>
                  </a:lnTo>
                  <a:lnTo>
                    <a:pt x="832557" y="23613"/>
                  </a:lnTo>
                  <a:lnTo>
                    <a:pt x="835279" y="0"/>
                  </a:lnTo>
                  <a:close/>
                </a:path>
              </a:pathLst>
            </a:custGeom>
            <a:solidFill>
              <a:srgbClr val="5563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3" name="object 28"/>
            <p:cNvSpPr/>
            <p:nvPr/>
          </p:nvSpPr>
          <p:spPr>
            <a:xfrm>
              <a:off x="3679200" y="3721680"/>
              <a:ext cx="1654560" cy="286200"/>
            </a:xfrm>
            <a:custGeom>
              <a:avLst/>
              <a:gdLst>
                <a:gd name="textAreaLeft" fmla="*/ 0 w 1654560"/>
                <a:gd name="textAreaRight" fmla="*/ 1656720 w 1654560"/>
                <a:gd name="textAreaTop" fmla="*/ 0 h 286200"/>
                <a:gd name="textAreaBottom" fmla="*/ 288360 h 286200"/>
              </a:gdLst>
              <a:ahLst/>
              <a:rect l="textAreaLeft" t="textAreaTop" r="textAreaRight" b="textAreaBottom"/>
              <a:pathLst>
                <a:path w="1656714" h="288289">
                  <a:moveTo>
                    <a:pt x="820927" y="288036"/>
                  </a:moveTo>
                  <a:lnTo>
                    <a:pt x="890816" y="286567"/>
                  </a:lnTo>
                  <a:lnTo>
                    <a:pt x="958993" y="283099"/>
                  </a:lnTo>
                  <a:lnTo>
                    <a:pt x="1025222" y="277716"/>
                  </a:lnTo>
                  <a:lnTo>
                    <a:pt x="1089266" y="270503"/>
                  </a:lnTo>
                  <a:lnTo>
                    <a:pt x="1150891" y="261544"/>
                  </a:lnTo>
                  <a:lnTo>
                    <a:pt x="1209859" y="250924"/>
                  </a:lnTo>
                  <a:lnTo>
                    <a:pt x="1265935" y="238725"/>
                  </a:lnTo>
                  <a:lnTo>
                    <a:pt x="1318882" y="225034"/>
                  </a:lnTo>
                  <a:lnTo>
                    <a:pt x="1368464" y="209934"/>
                  </a:lnTo>
                  <a:lnTo>
                    <a:pt x="1414445" y="193509"/>
                  </a:lnTo>
                  <a:lnTo>
                    <a:pt x="1456589" y="175845"/>
                  </a:lnTo>
                  <a:lnTo>
                    <a:pt x="1494659" y="157024"/>
                  </a:lnTo>
                  <a:lnTo>
                    <a:pt x="1528419" y="137132"/>
                  </a:lnTo>
                  <a:lnTo>
                    <a:pt x="1582066" y="94470"/>
                  </a:lnTo>
                  <a:lnTo>
                    <a:pt x="1615639" y="48535"/>
                  </a:lnTo>
                  <a:lnTo>
                    <a:pt x="1627251" y="0"/>
                  </a:lnTo>
                  <a:lnTo>
                    <a:pt x="1656207" y="0"/>
                  </a:lnTo>
                  <a:lnTo>
                    <a:pt x="1645462" y="46702"/>
                  </a:lnTo>
                  <a:lnTo>
                    <a:pt x="1614356" y="91013"/>
                  </a:lnTo>
                  <a:lnTo>
                    <a:pt x="1564580" y="132336"/>
                  </a:lnTo>
                  <a:lnTo>
                    <a:pt x="1497824" y="170078"/>
                  </a:lnTo>
                  <a:lnTo>
                    <a:pt x="1458607" y="187420"/>
                  </a:lnTo>
                  <a:lnTo>
                    <a:pt x="1415780" y="203644"/>
                  </a:lnTo>
                  <a:lnTo>
                    <a:pt x="1369552" y="218675"/>
                  </a:lnTo>
                  <a:lnTo>
                    <a:pt x="1320137" y="232440"/>
                  </a:lnTo>
                  <a:lnTo>
                    <a:pt x="1267745" y="244863"/>
                  </a:lnTo>
                  <a:lnTo>
                    <a:pt x="1212587" y="255871"/>
                  </a:lnTo>
                  <a:lnTo>
                    <a:pt x="1154876" y="265390"/>
                  </a:lnTo>
                  <a:lnTo>
                    <a:pt x="1094822" y="273344"/>
                  </a:lnTo>
                  <a:lnTo>
                    <a:pt x="1032636" y="279660"/>
                  </a:lnTo>
                  <a:lnTo>
                    <a:pt x="968531" y="284264"/>
                  </a:lnTo>
                  <a:lnTo>
                    <a:pt x="902717" y="287080"/>
                  </a:lnTo>
                  <a:lnTo>
                    <a:pt x="835406" y="288036"/>
                  </a:lnTo>
                  <a:lnTo>
                    <a:pt x="806323" y="288036"/>
                  </a:lnTo>
                  <a:lnTo>
                    <a:pt x="743761" y="287200"/>
                  </a:lnTo>
                  <a:lnTo>
                    <a:pt x="682156" y="284727"/>
                  </a:lnTo>
                  <a:lnTo>
                    <a:pt x="621724" y="280662"/>
                  </a:lnTo>
                  <a:lnTo>
                    <a:pt x="562684" y="275056"/>
                  </a:lnTo>
                  <a:lnTo>
                    <a:pt x="505253" y="267955"/>
                  </a:lnTo>
                  <a:lnTo>
                    <a:pt x="449648" y="259409"/>
                  </a:lnTo>
                  <a:lnTo>
                    <a:pt x="396087" y="249464"/>
                  </a:lnTo>
                  <a:lnTo>
                    <a:pt x="344788" y="238169"/>
                  </a:lnTo>
                  <a:lnTo>
                    <a:pt x="295968" y="225573"/>
                  </a:lnTo>
                  <a:lnTo>
                    <a:pt x="249846" y="211723"/>
                  </a:lnTo>
                  <a:lnTo>
                    <a:pt x="206639" y="196667"/>
                  </a:lnTo>
                  <a:lnTo>
                    <a:pt x="166564" y="180453"/>
                  </a:lnTo>
                  <a:lnTo>
                    <a:pt x="129839" y="163130"/>
                  </a:lnTo>
                  <a:lnTo>
                    <a:pt x="67310" y="125349"/>
                  </a:lnTo>
                  <a:lnTo>
                    <a:pt x="9778" y="125349"/>
                  </a:lnTo>
                  <a:lnTo>
                    <a:pt x="0" y="0"/>
                  </a:lnTo>
                  <a:lnTo>
                    <a:pt x="153797" y="125349"/>
                  </a:lnTo>
                  <a:lnTo>
                    <a:pt x="96392" y="125349"/>
                  </a:lnTo>
                  <a:lnTo>
                    <a:pt x="125764" y="144746"/>
                  </a:lnTo>
                  <a:lnTo>
                    <a:pt x="195647" y="180453"/>
                  </a:lnTo>
                  <a:lnTo>
                    <a:pt x="235722" y="196667"/>
                  </a:lnTo>
                  <a:lnTo>
                    <a:pt x="278929" y="211723"/>
                  </a:lnTo>
                  <a:lnTo>
                    <a:pt x="325051" y="225573"/>
                  </a:lnTo>
                  <a:lnTo>
                    <a:pt x="373871" y="238169"/>
                  </a:lnTo>
                  <a:lnTo>
                    <a:pt x="425170" y="249464"/>
                  </a:lnTo>
                  <a:lnTo>
                    <a:pt x="478731" y="259409"/>
                  </a:lnTo>
                  <a:lnTo>
                    <a:pt x="534336" y="267955"/>
                  </a:lnTo>
                  <a:lnTo>
                    <a:pt x="591767" y="275056"/>
                  </a:lnTo>
                  <a:lnTo>
                    <a:pt x="650807" y="280662"/>
                  </a:lnTo>
                  <a:lnTo>
                    <a:pt x="711239" y="284727"/>
                  </a:lnTo>
                  <a:lnTo>
                    <a:pt x="772844" y="287200"/>
                  </a:lnTo>
                  <a:lnTo>
                    <a:pt x="835406" y="288036"/>
                  </a:lnTo>
                </a:path>
              </a:pathLst>
            </a:custGeom>
            <a:noFill/>
            <a:ln w="26424">
              <a:solidFill>
                <a:srgbClr val="6b76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4" name="object 29"/>
          <p:cNvSpPr/>
          <p:nvPr/>
        </p:nvSpPr>
        <p:spPr>
          <a:xfrm>
            <a:off x="3745080" y="4039200"/>
            <a:ext cx="141948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0" lang="fr-FR" sz="1600" spc="-12" strike="noStrike">
                <a:solidFill>
                  <a:srgbClr val="46524b"/>
                </a:solidFill>
                <a:latin typeface="Arial"/>
                <a:ea typeface="DejaVu Sans"/>
              </a:rPr>
              <a:t>Affinage </a:t>
            </a:r>
            <a:r>
              <a:rPr b="0" lang="fr-FR" sz="1600" spc="-1" strike="noStrike">
                <a:solidFill>
                  <a:srgbClr val="46524b"/>
                </a:solidFill>
                <a:latin typeface="Arial"/>
                <a:ea typeface="DejaVu Sans"/>
              </a:rPr>
              <a:t>des</a:t>
            </a:r>
            <a:r>
              <a:rPr b="0" lang="fr-FR" sz="1600" spc="-35" strike="noStrike">
                <a:solidFill>
                  <a:srgbClr val="46524b"/>
                </a:solidFill>
                <a:latin typeface="Arial"/>
                <a:ea typeface="DejaVu Sans"/>
              </a:rPr>
              <a:t> </a:t>
            </a:r>
            <a:r>
              <a:rPr b="0" lang="fr-FR" sz="1600" spc="-12" strike="noStrike">
                <a:solidFill>
                  <a:srgbClr val="46524b"/>
                </a:solidFill>
                <a:latin typeface="Arial"/>
                <a:ea typeface="DejaVu Sans"/>
              </a:rPr>
              <a:t>paramètres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object 30"/>
          <p:cNvSpPr/>
          <p:nvPr/>
        </p:nvSpPr>
        <p:spPr>
          <a:xfrm>
            <a:off x="2359440" y="1300680"/>
            <a:ext cx="27453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fr-FR" sz="1800" spc="-1" strike="noStrike">
                <a:solidFill>
                  <a:srgbClr val="46524b"/>
                </a:solidFill>
                <a:latin typeface="Arial"/>
                <a:ea typeface="DejaVu Sans"/>
              </a:rPr>
              <a:t>Pour</a:t>
            </a:r>
            <a:r>
              <a:rPr b="0" lang="fr-FR" sz="1800" spc="-21" strike="noStrike">
                <a:solidFill>
                  <a:srgbClr val="46524b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46524b"/>
                </a:solidFill>
                <a:latin typeface="Arial"/>
                <a:ea typeface="DejaVu Sans"/>
              </a:rPr>
              <a:t>chaque algorithme </a:t>
            </a:r>
            <a:r>
              <a:rPr b="0" lang="fr-FR" sz="1800" spc="-26" strike="noStrike">
                <a:solidFill>
                  <a:srgbClr val="46524b"/>
                </a:solidFill>
                <a:latin typeface="Arial"/>
                <a:ea typeface="DejaVu Sans"/>
              </a:rPr>
              <a:t>(*)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object 31"/>
          <p:cNvSpPr/>
          <p:nvPr/>
        </p:nvSpPr>
        <p:spPr>
          <a:xfrm>
            <a:off x="474480" y="5047560"/>
            <a:ext cx="726516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(*)</a:t>
            </a:r>
            <a:r>
              <a:rPr b="0" i="1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Modèles</a:t>
            </a:r>
            <a:r>
              <a:rPr b="0" i="1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entraînés</a:t>
            </a:r>
            <a:r>
              <a:rPr b="0" i="1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i="1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Elastic</a:t>
            </a:r>
            <a:r>
              <a:rPr b="0" i="1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Net</a:t>
            </a:r>
            <a:r>
              <a:rPr b="0" i="1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SVR</a:t>
            </a:r>
            <a:r>
              <a:rPr b="0" i="1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Random</a:t>
            </a:r>
            <a:r>
              <a:rPr b="0" i="1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Forest</a:t>
            </a:r>
            <a:r>
              <a:rPr b="0" i="1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Regressor</a:t>
            </a:r>
            <a:r>
              <a:rPr b="0" i="1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XGBoost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8462880" cy="12297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consommation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paramètres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object 3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9" name="object 4"/>
          <p:cNvGraphicFramePr/>
          <p:nvPr/>
        </p:nvGraphicFramePr>
        <p:xfrm>
          <a:off x="101160" y="1410840"/>
          <a:ext cx="8711640" cy="3534840"/>
        </p:xfrm>
        <a:graphic>
          <a:graphicData uri="http://schemas.openxmlformats.org/drawingml/2006/table">
            <a:tbl>
              <a:tblPr/>
              <a:tblGrid>
                <a:gridCol w="2178000"/>
                <a:gridCol w="2178000"/>
                <a:gridCol w="2178000"/>
                <a:gridCol w="2178000"/>
              </a:tblGrid>
              <a:tr h="639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Elastic</a:t>
                      </a:r>
                      <a:r>
                        <a:rPr b="1" lang="fr-FR" sz="1800" spc="-15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1" lang="fr-FR" sz="1800" spc="-26" strike="noStrike">
                          <a:solidFill>
                            <a:srgbClr val="ffffff"/>
                          </a:solidFill>
                          <a:latin typeface="Arial"/>
                        </a:rPr>
                        <a:t>Net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26" strike="noStrike">
                          <a:solidFill>
                            <a:srgbClr val="ffffff"/>
                          </a:solidFill>
                          <a:latin typeface="Arial"/>
                        </a:rPr>
                        <a:t>SVR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XGBoost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Random</a:t>
                      </a:r>
                      <a:r>
                        <a:rPr b="1" lang="fr-FR" sz="1800" spc="-15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Forest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520" algn="ctr">
                        <a:lnSpc>
                          <a:spcPct val="100000"/>
                        </a:lnSpc>
                      </a:pP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Regressor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</a:tr>
              <a:tr h="3261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Alpha : 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[10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4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38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3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Gamma :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8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,10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7</a:t>
                      </a:r>
                      <a:r>
                        <a:rPr b="0" lang="fr-FR" sz="1800" spc="24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N_estimators</a:t>
                      </a:r>
                      <a:r>
                        <a:rPr b="0" lang="fr-FR" sz="1800" spc="-60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N_estimators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[10,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...,</a:t>
                      </a:r>
                      <a:r>
                        <a:rPr b="0" lang="fr-FR" sz="1800" spc="-4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10,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2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 ,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75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1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[100,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500,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1000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50,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100,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300,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500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8520"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 row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2000]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261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L1_ratio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1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[0.1,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0.2,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Epsilon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[0.001,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Min_samples_leaf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</a:tr>
              <a:tr h="587160">
                <a:tc>
                  <a:txBody>
                    <a:bodyPr anchor="t">
                      <a:noAutofit/>
                    </a:bodyPr>
                    <a:p>
                      <a:pPr marL="326520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0.3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0.6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....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0.9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0.01,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0.1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1]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1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3,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10]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</a:tr>
              <a:tr h="3268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Tol</a:t>
                      </a:r>
                      <a:r>
                        <a:rPr b="0" lang="fr-FR" sz="1800" spc="-6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C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1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[0.001,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0.01,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800"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Max_features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273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[0.1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,0.01,0.001,0.0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0.1,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7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[auto,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sqrt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12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001]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</a:tbl>
          </a:graphicData>
        </a:graphic>
      </p:graphicFrame>
      <p:sp>
        <p:nvSpPr>
          <p:cNvPr id="280" name="object 5"/>
          <p:cNvSpPr/>
          <p:nvPr/>
        </p:nvSpPr>
        <p:spPr>
          <a:xfrm>
            <a:off x="402480" y="5226120"/>
            <a:ext cx="39330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Combinaison</a:t>
            </a:r>
            <a:r>
              <a:rPr b="0" lang="fr-FR" sz="1800" spc="-15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optimale</a:t>
            </a:r>
            <a:r>
              <a:rPr b="0" lang="fr-FR" sz="1800" spc="-32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des</a:t>
            </a:r>
            <a:r>
              <a:rPr b="0" lang="fr-FR" sz="1800" spc="-41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00af50"/>
                </a:solidFill>
                <a:latin typeface="Arial"/>
                <a:ea typeface="DejaVu Sans"/>
              </a:rPr>
              <a:t>paramètres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object 9" descr=""/>
          <p:cNvPicPr/>
          <p:nvPr/>
        </p:nvPicPr>
        <p:blipFill>
          <a:blip r:embed="rId1"/>
          <a:stretch/>
        </p:blipFill>
        <p:spPr>
          <a:xfrm>
            <a:off x="3420000" y="481320"/>
            <a:ext cx="5686200" cy="2328840"/>
          </a:xfrm>
          <a:prstGeom prst="rect">
            <a:avLst/>
          </a:prstGeom>
          <a:ln w="0">
            <a:noFill/>
          </a:ln>
        </p:spPr>
      </p:pic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330120" y="283320"/>
            <a:ext cx="6328800" cy="98676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fr-FR" sz="3200" spc="-100" strike="noStrike">
                <a:solidFill>
                  <a:srgbClr val="d2523b"/>
                </a:solidFill>
                <a:latin typeface="Arial"/>
              </a:rPr>
              <a:t>Complément</a:t>
            </a:r>
            <a:r>
              <a:rPr b="0" lang="fr-FR" sz="3200" spc="-21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2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32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200" spc="-86" strike="noStrike">
                <a:solidFill>
                  <a:srgbClr val="d2523b"/>
                </a:solidFill>
                <a:latin typeface="Arial"/>
              </a:rPr>
              <a:t>Pertinence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object 6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object 7"/>
          <p:cNvSpPr/>
          <p:nvPr/>
        </p:nvSpPr>
        <p:spPr>
          <a:xfrm>
            <a:off x="3816000" y="1165320"/>
            <a:ext cx="1438200" cy="1510560"/>
          </a:xfrm>
          <a:custGeom>
            <a:avLst/>
            <a:gdLst>
              <a:gd name="textAreaLeft" fmla="*/ 0 w 1438200"/>
              <a:gd name="textAreaRight" fmla="*/ 1440360 w 1438200"/>
              <a:gd name="textAreaTop" fmla="*/ 0 h 1510560"/>
              <a:gd name="textAreaBottom" fmla="*/ 1512720 h 1510560"/>
            </a:gdLst>
            <a:ahLst/>
            <a:rect l="textAreaLeft" t="textAreaTop" r="textAreaRight" b="textAreaBottom"/>
            <a:pathLst>
              <a:path w="1440179" h="1512570">
                <a:moveTo>
                  <a:pt x="0" y="1512189"/>
                </a:moveTo>
                <a:lnTo>
                  <a:pt x="1440180" y="1512189"/>
                </a:lnTo>
                <a:lnTo>
                  <a:pt x="1440180" y="0"/>
                </a:lnTo>
                <a:lnTo>
                  <a:pt x="0" y="0"/>
                </a:lnTo>
                <a:lnTo>
                  <a:pt x="0" y="1512189"/>
                </a:lnTo>
                <a:close/>
              </a:path>
            </a:pathLst>
          </a:custGeom>
          <a:noFill/>
          <a:ln w="26424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5" name="object 8"/>
          <p:cNvSpPr/>
          <p:nvPr/>
        </p:nvSpPr>
        <p:spPr>
          <a:xfrm>
            <a:off x="330120" y="771120"/>
            <a:ext cx="2910600" cy="43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fr-FR" sz="3200" spc="-75" strike="noStrike">
                <a:solidFill>
                  <a:srgbClr val="d2523b"/>
                </a:solidFill>
                <a:latin typeface="Arial"/>
                <a:ea typeface="DejaVu Sans"/>
              </a:rPr>
              <a:t>des</a:t>
            </a:r>
            <a:r>
              <a:rPr b="0" lang="fr-FR" sz="3200" spc="-165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variables</a:t>
            </a:r>
            <a:r>
              <a:rPr b="0" lang="fr-FR" sz="3200" spc="-191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72" strike="noStrike">
                <a:solidFill>
                  <a:srgbClr val="d2523b"/>
                </a:solidFill>
                <a:latin typeface="Arial"/>
                <a:ea typeface="DejaVu Sans"/>
              </a:rPr>
              <a:t>par </a:t>
            </a:r>
            <a:r>
              <a:rPr b="0" lang="fr-FR" sz="3200" spc="-12" strike="noStrike">
                <a:solidFill>
                  <a:srgbClr val="d2523b"/>
                </a:solidFill>
                <a:latin typeface="Arial"/>
                <a:ea typeface="DejaVu Sans"/>
              </a:rPr>
              <a:t>permutation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TotalGHGEmissions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Boucle</a:t>
            </a:r>
            <a:r>
              <a:rPr b="1" lang="fr-FR" sz="1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8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160"/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Fit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modèle 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avec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ensemble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des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 algn="just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Permutation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aléatoire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d’une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(ou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bloc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pré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OHE)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 algn="just">
              <a:lnSpc>
                <a:spcPct val="100000"/>
              </a:lnSpc>
              <a:spcBef>
                <a:spcPts val="6"/>
              </a:spcBef>
              <a:buClr>
                <a:srgbClr val="292934"/>
              </a:buClr>
              <a:buFont typeface="Symbol"/>
              <a:buChar char=""/>
              <a:tabLst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Calcul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160"/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la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qui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dégrade</a:t>
            </a:r>
            <a:r>
              <a:rPr b="0" lang="fr-FR" sz="18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le </a:t>
            </a:r>
            <a:r>
              <a:rPr b="0" lang="fr-FR" sz="18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moins</a:t>
            </a:r>
            <a:r>
              <a:rPr b="0" lang="fr-FR" sz="1800" spc="-2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00000"/>
              </a:lnSpc>
              <a:buClr>
                <a:srgbClr val="292934"/>
              </a:buClr>
              <a:buFont typeface="Symbol"/>
              <a:buChar char=""/>
              <a:tabLst>
                <a:tab algn="l" pos="299160"/>
                <a:tab algn="l" pos="29988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Calcul</a:t>
            </a:r>
            <a:r>
              <a:rPr b="0" lang="fr-FR" sz="18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" descr=""/>
          <p:cNvPicPr/>
          <p:nvPr/>
        </p:nvPicPr>
        <p:blipFill>
          <a:blip r:embed="rId2"/>
          <a:stretch/>
        </p:blipFill>
        <p:spPr>
          <a:xfrm>
            <a:off x="3240000" y="2964600"/>
            <a:ext cx="5736240" cy="261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object 2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15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36040" y="221400"/>
            <a:ext cx="8643240" cy="1854720"/>
          </a:xfrm>
          <a:prstGeom prst="rect">
            <a:avLst/>
          </a:prstGeom>
          <a:noFill/>
          <a:ln w="0">
            <a:noFill/>
          </a:ln>
        </p:spPr>
        <p:txBody>
          <a:bodyPr lIns="0" rIns="0" tIns="3168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2494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émissions</a:t>
            </a:r>
            <a:r>
              <a:rPr b="0" lang="fr-FR" sz="4000" spc="-18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8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46" strike="noStrike">
                <a:solidFill>
                  <a:srgbClr val="d2523b"/>
                </a:solidFill>
                <a:latin typeface="Arial"/>
              </a:rPr>
              <a:t>démarche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845"/>
              </a:spcBef>
              <a:buNone/>
              <a:tabLst>
                <a:tab algn="l" pos="0"/>
              </a:tabLst>
            </a:pPr>
            <a:r>
              <a:rPr b="1" lang="fr-FR" sz="1400" spc="-1" strike="noStrike">
                <a:solidFill>
                  <a:srgbClr val="292934"/>
                </a:solidFill>
                <a:latin typeface="Arial"/>
              </a:rPr>
              <a:t>Idée:</a:t>
            </a:r>
            <a:r>
              <a:rPr b="1" lang="fr-FR" sz="1400" spc="-60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Faire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un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modèle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simplifié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partir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la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prédiction</a:t>
            </a:r>
            <a:r>
              <a:rPr b="0" lang="fr-FR" sz="1400" spc="-60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</a:rPr>
              <a:t>consommation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object 4"/>
          <p:cNvSpPr/>
          <p:nvPr/>
        </p:nvSpPr>
        <p:spPr>
          <a:xfrm>
            <a:off x="536040" y="5083920"/>
            <a:ext cx="7019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2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obtenu</a:t>
            </a:r>
            <a:r>
              <a:rPr b="0" lang="fr-FR" sz="14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est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encore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plus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performant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que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étalon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peut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être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retenu.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0" name="object 5"/>
          <p:cNvGrpSpPr/>
          <p:nvPr/>
        </p:nvGrpSpPr>
        <p:grpSpPr>
          <a:xfrm>
            <a:off x="690120" y="1783800"/>
            <a:ext cx="1965600" cy="2865600"/>
            <a:chOff x="690120" y="1783800"/>
            <a:chExt cx="1965600" cy="2865600"/>
          </a:xfrm>
        </p:grpSpPr>
        <p:sp>
          <p:nvSpPr>
            <p:cNvPr id="291" name="object 6"/>
            <p:cNvSpPr/>
            <p:nvPr/>
          </p:nvSpPr>
          <p:spPr>
            <a:xfrm>
              <a:off x="690120" y="1783800"/>
              <a:ext cx="1965600" cy="2865600"/>
            </a:xfrm>
            <a:custGeom>
              <a:avLst/>
              <a:gdLst>
                <a:gd name="textAreaLeft" fmla="*/ 0 w 1965600"/>
                <a:gd name="textAreaRight" fmla="*/ 1967760 w 1965600"/>
                <a:gd name="textAreaTop" fmla="*/ 0 h 2865600"/>
                <a:gd name="textAreaBottom" fmla="*/ 2867760 h 2865600"/>
              </a:gdLst>
              <a:ahLst/>
              <a:rect l="textAreaLeft" t="textAreaTop" r="textAreaRight" b="textAreaBottom"/>
              <a:pathLst>
                <a:path w="1967864" h="2867660">
                  <a:moveTo>
                    <a:pt x="1770608" y="0"/>
                  </a:moveTo>
                  <a:lnTo>
                    <a:pt x="196735" y="0"/>
                  </a:lnTo>
                  <a:lnTo>
                    <a:pt x="151627" y="5192"/>
                  </a:lnTo>
                  <a:lnTo>
                    <a:pt x="110218" y="19983"/>
                  </a:lnTo>
                  <a:lnTo>
                    <a:pt x="73689" y="43197"/>
                  </a:lnTo>
                  <a:lnTo>
                    <a:pt x="43222" y="73655"/>
                  </a:lnTo>
                  <a:lnTo>
                    <a:pt x="19997" y="110180"/>
                  </a:lnTo>
                  <a:lnTo>
                    <a:pt x="5196" y="151595"/>
                  </a:lnTo>
                  <a:lnTo>
                    <a:pt x="0" y="196723"/>
                  </a:lnTo>
                  <a:lnTo>
                    <a:pt x="0" y="2670721"/>
                  </a:lnTo>
                  <a:lnTo>
                    <a:pt x="5196" y="2715828"/>
                  </a:lnTo>
                  <a:lnTo>
                    <a:pt x="19997" y="2757235"/>
                  </a:lnTo>
                  <a:lnTo>
                    <a:pt x="43222" y="2793761"/>
                  </a:lnTo>
                  <a:lnTo>
                    <a:pt x="73689" y="2824226"/>
                  </a:lnTo>
                  <a:lnTo>
                    <a:pt x="110218" y="2847449"/>
                  </a:lnTo>
                  <a:lnTo>
                    <a:pt x="151627" y="2862248"/>
                  </a:lnTo>
                  <a:lnTo>
                    <a:pt x="196735" y="2867444"/>
                  </a:lnTo>
                  <a:lnTo>
                    <a:pt x="1770608" y="2867444"/>
                  </a:lnTo>
                  <a:lnTo>
                    <a:pt x="1815695" y="2862248"/>
                  </a:lnTo>
                  <a:lnTo>
                    <a:pt x="1857095" y="2847449"/>
                  </a:lnTo>
                  <a:lnTo>
                    <a:pt x="1893622" y="2824226"/>
                  </a:lnTo>
                  <a:lnTo>
                    <a:pt x="1924094" y="2793761"/>
                  </a:lnTo>
                  <a:lnTo>
                    <a:pt x="1947325" y="2757235"/>
                  </a:lnTo>
                  <a:lnTo>
                    <a:pt x="1962132" y="2715828"/>
                  </a:lnTo>
                  <a:lnTo>
                    <a:pt x="1967331" y="2670721"/>
                  </a:lnTo>
                  <a:lnTo>
                    <a:pt x="1967331" y="196723"/>
                  </a:lnTo>
                  <a:lnTo>
                    <a:pt x="1962132" y="151595"/>
                  </a:lnTo>
                  <a:lnTo>
                    <a:pt x="1947325" y="110180"/>
                  </a:lnTo>
                  <a:lnTo>
                    <a:pt x="1924094" y="73655"/>
                  </a:lnTo>
                  <a:lnTo>
                    <a:pt x="1893622" y="43197"/>
                  </a:lnTo>
                  <a:lnTo>
                    <a:pt x="1857095" y="19983"/>
                  </a:lnTo>
                  <a:lnTo>
                    <a:pt x="1815695" y="5192"/>
                  </a:lnTo>
                  <a:lnTo>
                    <a:pt x="1770608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2" name="object 7"/>
            <p:cNvSpPr/>
            <p:nvPr/>
          </p:nvSpPr>
          <p:spPr>
            <a:xfrm>
              <a:off x="690120" y="1783800"/>
              <a:ext cx="1965600" cy="2865600"/>
            </a:xfrm>
            <a:custGeom>
              <a:avLst/>
              <a:gdLst>
                <a:gd name="textAreaLeft" fmla="*/ 0 w 1965600"/>
                <a:gd name="textAreaRight" fmla="*/ 1967760 w 1965600"/>
                <a:gd name="textAreaTop" fmla="*/ 0 h 2865600"/>
                <a:gd name="textAreaBottom" fmla="*/ 2867760 h 2865600"/>
              </a:gdLst>
              <a:ahLst/>
              <a:rect l="textAreaLeft" t="textAreaTop" r="textAreaRight" b="textAreaBottom"/>
              <a:pathLst>
                <a:path w="1967864" h="2867660">
                  <a:moveTo>
                    <a:pt x="0" y="196723"/>
                  </a:moveTo>
                  <a:lnTo>
                    <a:pt x="5196" y="151595"/>
                  </a:lnTo>
                  <a:lnTo>
                    <a:pt x="19997" y="110180"/>
                  </a:lnTo>
                  <a:lnTo>
                    <a:pt x="43222" y="73655"/>
                  </a:lnTo>
                  <a:lnTo>
                    <a:pt x="73689" y="43197"/>
                  </a:lnTo>
                  <a:lnTo>
                    <a:pt x="110218" y="19983"/>
                  </a:lnTo>
                  <a:lnTo>
                    <a:pt x="151627" y="5192"/>
                  </a:lnTo>
                  <a:lnTo>
                    <a:pt x="196735" y="0"/>
                  </a:lnTo>
                  <a:lnTo>
                    <a:pt x="1770608" y="0"/>
                  </a:lnTo>
                  <a:lnTo>
                    <a:pt x="1815695" y="5192"/>
                  </a:lnTo>
                  <a:lnTo>
                    <a:pt x="1857095" y="19983"/>
                  </a:lnTo>
                  <a:lnTo>
                    <a:pt x="1893622" y="43197"/>
                  </a:lnTo>
                  <a:lnTo>
                    <a:pt x="1924094" y="73655"/>
                  </a:lnTo>
                  <a:lnTo>
                    <a:pt x="1947325" y="110180"/>
                  </a:lnTo>
                  <a:lnTo>
                    <a:pt x="1962132" y="151595"/>
                  </a:lnTo>
                  <a:lnTo>
                    <a:pt x="1967331" y="196723"/>
                  </a:lnTo>
                  <a:lnTo>
                    <a:pt x="1967331" y="2670721"/>
                  </a:lnTo>
                  <a:lnTo>
                    <a:pt x="1962132" y="2715828"/>
                  </a:lnTo>
                  <a:lnTo>
                    <a:pt x="1947325" y="2757235"/>
                  </a:lnTo>
                  <a:lnTo>
                    <a:pt x="1924094" y="2793761"/>
                  </a:lnTo>
                  <a:lnTo>
                    <a:pt x="1893622" y="2824226"/>
                  </a:lnTo>
                  <a:lnTo>
                    <a:pt x="1857095" y="2847449"/>
                  </a:lnTo>
                  <a:lnTo>
                    <a:pt x="1815695" y="2862248"/>
                  </a:lnTo>
                  <a:lnTo>
                    <a:pt x="1770608" y="2867444"/>
                  </a:lnTo>
                  <a:lnTo>
                    <a:pt x="196735" y="2867444"/>
                  </a:lnTo>
                  <a:lnTo>
                    <a:pt x="151627" y="2862248"/>
                  </a:lnTo>
                  <a:lnTo>
                    <a:pt x="110218" y="2847449"/>
                  </a:lnTo>
                  <a:lnTo>
                    <a:pt x="73689" y="2824226"/>
                  </a:lnTo>
                  <a:lnTo>
                    <a:pt x="43222" y="2793761"/>
                  </a:lnTo>
                  <a:lnTo>
                    <a:pt x="19997" y="2757235"/>
                  </a:lnTo>
                  <a:lnTo>
                    <a:pt x="5196" y="2715828"/>
                  </a:lnTo>
                  <a:lnTo>
                    <a:pt x="0" y="2670721"/>
                  </a:lnTo>
                  <a:lnTo>
                    <a:pt x="0" y="196723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93" name="object 8"/>
          <p:cNvSpPr/>
          <p:nvPr/>
        </p:nvSpPr>
        <p:spPr>
          <a:xfrm>
            <a:off x="788760" y="1850400"/>
            <a:ext cx="1476720" cy="6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12600"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Entraînement</a:t>
            </a:r>
            <a:r>
              <a:rPr b="0" lang="fr-FR" sz="1400" spc="-60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1" strike="noStrike">
                <a:solidFill>
                  <a:srgbClr val="ffffff"/>
                </a:solidFill>
                <a:latin typeface="Arial"/>
                <a:ea typeface="DejaVu Sans"/>
              </a:rPr>
              <a:t>d’un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«</a:t>
            </a:r>
            <a:r>
              <a:rPr b="0" lang="fr-FR" sz="14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base</a:t>
            </a:r>
            <a:r>
              <a:rPr b="0" lang="fr-FR" sz="14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»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70560" indent="-58320">
              <a:lnSpc>
                <a:spcPct val="100000"/>
              </a:lnSpc>
              <a:spcBef>
                <a:spcPts val="380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Toutes</a:t>
            </a:r>
            <a:r>
              <a:rPr b="0" lang="fr-FR" sz="1100" spc="253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les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features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object 9"/>
          <p:cNvSpPr/>
          <p:nvPr/>
        </p:nvSpPr>
        <p:spPr>
          <a:xfrm>
            <a:off x="788760" y="2634120"/>
            <a:ext cx="16214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Random</a:t>
            </a:r>
            <a:r>
              <a:rPr b="0" lang="fr-FR" sz="1100" spc="-3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Forest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(optimisation</a:t>
            </a:r>
            <a:r>
              <a:rPr b="0" lang="fr-FR" sz="11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avec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search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CV)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object 10"/>
          <p:cNvSpPr/>
          <p:nvPr/>
        </p:nvSpPr>
        <p:spPr>
          <a:xfrm>
            <a:off x="788760" y="3261960"/>
            <a:ext cx="165600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70560" indent="-58320">
              <a:lnSpc>
                <a:spcPct val="100000"/>
              </a:lnSpc>
              <a:spcBef>
                <a:spcPts val="105"/>
              </a:spcBef>
              <a:buClr>
                <a:srgbClr val="ffffff"/>
              </a:buClr>
              <a:buSzPct val="91000"/>
              <a:buFont typeface="Arial"/>
              <a:buChar char="•"/>
              <a:tabLst>
                <a:tab algn="l" pos="7128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1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=</a:t>
            </a:r>
            <a:r>
              <a:rPr b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 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?</a:t>
            </a:r>
            <a:r>
              <a:rPr b="1" lang="fr-FR" sz="1100" spc="-7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(jeu</a:t>
            </a:r>
            <a:r>
              <a:rPr b="0" lang="fr-FR" sz="11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 test)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object 11"/>
          <p:cNvSpPr/>
          <p:nvPr/>
        </p:nvSpPr>
        <p:spPr>
          <a:xfrm>
            <a:off x="2854080" y="2973600"/>
            <a:ext cx="415080" cy="486000"/>
          </a:xfrm>
          <a:custGeom>
            <a:avLst/>
            <a:gdLst>
              <a:gd name="textAreaLeft" fmla="*/ 0 w 415080"/>
              <a:gd name="textAreaRight" fmla="*/ 417240 w 415080"/>
              <a:gd name="textAreaTop" fmla="*/ 0 h 486000"/>
              <a:gd name="textAreaBottom" fmla="*/ 488160 h 486000"/>
            </a:gdLst>
            <a:ahLst/>
            <a:rect l="textAreaLeft" t="textAreaTop" r="textAreaRight" b="textAreaBottom"/>
            <a:pathLst>
              <a:path w="417195" h="488314">
                <a:moveTo>
                  <a:pt x="208533" y="0"/>
                </a:moveTo>
                <a:lnTo>
                  <a:pt x="208533" y="97536"/>
                </a:lnTo>
                <a:lnTo>
                  <a:pt x="0" y="97536"/>
                </a:lnTo>
                <a:lnTo>
                  <a:pt x="0" y="390271"/>
                </a:lnTo>
                <a:lnTo>
                  <a:pt x="208533" y="390271"/>
                </a:lnTo>
                <a:lnTo>
                  <a:pt x="208533" y="487934"/>
                </a:lnTo>
                <a:lnTo>
                  <a:pt x="417067" y="243967"/>
                </a:lnTo>
                <a:lnTo>
                  <a:pt x="208533" y="0"/>
                </a:lnTo>
                <a:close/>
              </a:path>
            </a:pathLst>
          </a:custGeom>
          <a:solidFill>
            <a:srgbClr val="c7ce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297" name="object 12"/>
          <p:cNvGrpSpPr/>
          <p:nvPr/>
        </p:nvGrpSpPr>
        <p:grpSpPr>
          <a:xfrm>
            <a:off x="3444480" y="1793520"/>
            <a:ext cx="1965240" cy="2846520"/>
            <a:chOff x="3444480" y="1793520"/>
            <a:chExt cx="1965240" cy="2846520"/>
          </a:xfrm>
        </p:grpSpPr>
        <p:sp>
          <p:nvSpPr>
            <p:cNvPr id="298" name="object 13"/>
            <p:cNvSpPr/>
            <p:nvPr/>
          </p:nvSpPr>
          <p:spPr>
            <a:xfrm>
              <a:off x="3444480" y="1793520"/>
              <a:ext cx="1965240" cy="2846520"/>
            </a:xfrm>
            <a:custGeom>
              <a:avLst/>
              <a:gdLst>
                <a:gd name="textAreaLeft" fmla="*/ 0 w 1965240"/>
                <a:gd name="textAreaRight" fmla="*/ 1967400 w 1965240"/>
                <a:gd name="textAreaTop" fmla="*/ 0 h 2846520"/>
                <a:gd name="textAreaBottom" fmla="*/ 2848680 h 2846520"/>
              </a:gdLst>
              <a:ahLst/>
              <a:rect l="textAreaLeft" t="textAreaTop" r="textAreaRight" b="textAreaBottom"/>
              <a:pathLst>
                <a:path w="1967229" h="2848610">
                  <a:moveTo>
                    <a:pt x="1770507" y="0"/>
                  </a:moveTo>
                  <a:lnTo>
                    <a:pt x="196723" y="0"/>
                  </a:lnTo>
                  <a:lnTo>
                    <a:pt x="151595" y="5198"/>
                  </a:lnTo>
                  <a:lnTo>
                    <a:pt x="110180" y="20006"/>
                  </a:lnTo>
                  <a:lnTo>
                    <a:pt x="73655" y="43237"/>
                  </a:lnTo>
                  <a:lnTo>
                    <a:pt x="43197" y="73708"/>
                  </a:lnTo>
                  <a:lnTo>
                    <a:pt x="19983" y="110236"/>
                  </a:lnTo>
                  <a:lnTo>
                    <a:pt x="5192" y="151635"/>
                  </a:lnTo>
                  <a:lnTo>
                    <a:pt x="0" y="196723"/>
                  </a:lnTo>
                  <a:lnTo>
                    <a:pt x="0" y="2651633"/>
                  </a:lnTo>
                  <a:lnTo>
                    <a:pt x="5192" y="2696735"/>
                  </a:lnTo>
                  <a:lnTo>
                    <a:pt x="19983" y="2738139"/>
                  </a:lnTo>
                  <a:lnTo>
                    <a:pt x="43197" y="2774663"/>
                  </a:lnTo>
                  <a:lnTo>
                    <a:pt x="73655" y="2805126"/>
                  </a:lnTo>
                  <a:lnTo>
                    <a:pt x="110180" y="2828348"/>
                  </a:lnTo>
                  <a:lnTo>
                    <a:pt x="151595" y="2843147"/>
                  </a:lnTo>
                  <a:lnTo>
                    <a:pt x="196723" y="2848343"/>
                  </a:lnTo>
                  <a:lnTo>
                    <a:pt x="1770507" y="2848343"/>
                  </a:lnTo>
                  <a:lnTo>
                    <a:pt x="1815634" y="2843147"/>
                  </a:lnTo>
                  <a:lnTo>
                    <a:pt x="1857049" y="2828348"/>
                  </a:lnTo>
                  <a:lnTo>
                    <a:pt x="1893574" y="2805126"/>
                  </a:lnTo>
                  <a:lnTo>
                    <a:pt x="1924032" y="2774663"/>
                  </a:lnTo>
                  <a:lnTo>
                    <a:pt x="1947246" y="2738139"/>
                  </a:lnTo>
                  <a:lnTo>
                    <a:pt x="1962037" y="2696735"/>
                  </a:lnTo>
                  <a:lnTo>
                    <a:pt x="1967230" y="2651633"/>
                  </a:lnTo>
                  <a:lnTo>
                    <a:pt x="1967230" y="196723"/>
                  </a:lnTo>
                  <a:lnTo>
                    <a:pt x="1962037" y="151635"/>
                  </a:lnTo>
                  <a:lnTo>
                    <a:pt x="1947246" y="110236"/>
                  </a:lnTo>
                  <a:lnTo>
                    <a:pt x="1924032" y="73708"/>
                  </a:lnTo>
                  <a:lnTo>
                    <a:pt x="1893574" y="43237"/>
                  </a:lnTo>
                  <a:lnTo>
                    <a:pt x="1857049" y="20006"/>
                  </a:lnTo>
                  <a:lnTo>
                    <a:pt x="1815634" y="5198"/>
                  </a:lnTo>
                  <a:lnTo>
                    <a:pt x="1770507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99" name="object 14"/>
            <p:cNvSpPr/>
            <p:nvPr/>
          </p:nvSpPr>
          <p:spPr>
            <a:xfrm>
              <a:off x="3444480" y="1793520"/>
              <a:ext cx="1965240" cy="2846520"/>
            </a:xfrm>
            <a:custGeom>
              <a:avLst/>
              <a:gdLst>
                <a:gd name="textAreaLeft" fmla="*/ 0 w 1965240"/>
                <a:gd name="textAreaRight" fmla="*/ 1967400 w 1965240"/>
                <a:gd name="textAreaTop" fmla="*/ 0 h 2846520"/>
                <a:gd name="textAreaBottom" fmla="*/ 2848680 h 2846520"/>
              </a:gdLst>
              <a:ahLst/>
              <a:rect l="textAreaLeft" t="textAreaTop" r="textAreaRight" b="textAreaBottom"/>
              <a:pathLst>
                <a:path w="1967229" h="2848610">
                  <a:moveTo>
                    <a:pt x="0" y="196723"/>
                  </a:moveTo>
                  <a:lnTo>
                    <a:pt x="5192" y="151635"/>
                  </a:lnTo>
                  <a:lnTo>
                    <a:pt x="19983" y="110236"/>
                  </a:lnTo>
                  <a:lnTo>
                    <a:pt x="43197" y="73708"/>
                  </a:lnTo>
                  <a:lnTo>
                    <a:pt x="73655" y="43237"/>
                  </a:lnTo>
                  <a:lnTo>
                    <a:pt x="110180" y="20006"/>
                  </a:lnTo>
                  <a:lnTo>
                    <a:pt x="151595" y="5198"/>
                  </a:lnTo>
                  <a:lnTo>
                    <a:pt x="196723" y="0"/>
                  </a:lnTo>
                  <a:lnTo>
                    <a:pt x="1770507" y="0"/>
                  </a:lnTo>
                  <a:lnTo>
                    <a:pt x="1815634" y="5198"/>
                  </a:lnTo>
                  <a:lnTo>
                    <a:pt x="1857049" y="20006"/>
                  </a:lnTo>
                  <a:lnTo>
                    <a:pt x="1893574" y="43237"/>
                  </a:lnTo>
                  <a:lnTo>
                    <a:pt x="1924032" y="73708"/>
                  </a:lnTo>
                  <a:lnTo>
                    <a:pt x="1947246" y="110236"/>
                  </a:lnTo>
                  <a:lnTo>
                    <a:pt x="1962037" y="151635"/>
                  </a:lnTo>
                  <a:lnTo>
                    <a:pt x="1967230" y="196723"/>
                  </a:lnTo>
                  <a:lnTo>
                    <a:pt x="1967230" y="2651633"/>
                  </a:lnTo>
                  <a:lnTo>
                    <a:pt x="1962037" y="2696735"/>
                  </a:lnTo>
                  <a:lnTo>
                    <a:pt x="1947246" y="2738139"/>
                  </a:lnTo>
                  <a:lnTo>
                    <a:pt x="1924032" y="2774663"/>
                  </a:lnTo>
                  <a:lnTo>
                    <a:pt x="1893574" y="2805126"/>
                  </a:lnTo>
                  <a:lnTo>
                    <a:pt x="1857049" y="2828348"/>
                  </a:lnTo>
                  <a:lnTo>
                    <a:pt x="1815634" y="2843147"/>
                  </a:lnTo>
                  <a:lnTo>
                    <a:pt x="1770507" y="2848343"/>
                  </a:lnTo>
                  <a:lnTo>
                    <a:pt x="196723" y="2848343"/>
                  </a:lnTo>
                  <a:lnTo>
                    <a:pt x="151595" y="2843147"/>
                  </a:lnTo>
                  <a:lnTo>
                    <a:pt x="110180" y="2828348"/>
                  </a:lnTo>
                  <a:lnTo>
                    <a:pt x="73655" y="2805126"/>
                  </a:lnTo>
                  <a:lnTo>
                    <a:pt x="43197" y="2774663"/>
                  </a:lnTo>
                  <a:lnTo>
                    <a:pt x="19983" y="2738139"/>
                  </a:lnTo>
                  <a:lnTo>
                    <a:pt x="5192" y="2696735"/>
                  </a:lnTo>
                  <a:lnTo>
                    <a:pt x="0" y="2651633"/>
                  </a:lnTo>
                  <a:lnTo>
                    <a:pt x="0" y="196723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00" name="object 15"/>
          <p:cNvSpPr/>
          <p:nvPr/>
        </p:nvSpPr>
        <p:spPr>
          <a:xfrm>
            <a:off x="3543120" y="1860120"/>
            <a:ext cx="1477440" cy="7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12600"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Entraînement</a:t>
            </a:r>
            <a:r>
              <a:rPr b="0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1" strike="noStrike">
                <a:solidFill>
                  <a:srgbClr val="ffffff"/>
                </a:solidFill>
                <a:latin typeface="Arial"/>
                <a:ea typeface="DejaVu Sans"/>
              </a:rPr>
              <a:t>d’un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simplifié: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70560" indent="-58320">
              <a:lnSpc>
                <a:spcPts val="1140"/>
              </a:lnSpc>
              <a:spcBef>
                <a:spcPts val="564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Feature</a:t>
            </a:r>
            <a:r>
              <a:rPr b="0" lang="fr-FR" sz="11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unique</a:t>
            </a:r>
            <a:r>
              <a:rPr b="0" lang="fr-FR" sz="11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52" strike="noStrike">
                <a:solidFill>
                  <a:srgbClr val="ffffff"/>
                </a:solidFill>
                <a:latin typeface="Arial"/>
                <a:ea typeface="DejaVu Sans"/>
              </a:rPr>
              <a:t>: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consommation</a:t>
            </a:r>
            <a:r>
              <a:rPr b="0" lang="fr-FR" sz="11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prédite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object 16"/>
          <p:cNvSpPr/>
          <p:nvPr/>
        </p:nvSpPr>
        <p:spPr>
          <a:xfrm>
            <a:off x="3543120" y="2788200"/>
            <a:ext cx="1622160" cy="4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360" bIns="0" anchor="t">
            <a:spAutoFit/>
          </a:bodyPr>
          <a:p>
            <a:pPr marL="70560" indent="-58320">
              <a:lnSpc>
                <a:spcPct val="86000"/>
              </a:lnSpc>
              <a:spcBef>
                <a:spcPts val="286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Random</a:t>
            </a:r>
            <a:r>
              <a:rPr b="0" lang="fr-FR" sz="1100" spc="-4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Forest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(optimisation</a:t>
            </a:r>
            <a:r>
              <a:rPr b="0" lang="fr-FR" sz="110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avec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search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CV)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object 17"/>
          <p:cNvSpPr/>
          <p:nvPr/>
        </p:nvSpPr>
        <p:spPr>
          <a:xfrm>
            <a:off x="3543120" y="3414960"/>
            <a:ext cx="1308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Arial"/>
              <a:buChar char="•"/>
              <a:tabLst>
                <a:tab algn="l" pos="7128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1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: </a:t>
            </a:r>
            <a:r>
              <a:rPr b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?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(jeu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de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validation)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object 18"/>
          <p:cNvSpPr/>
          <p:nvPr/>
        </p:nvSpPr>
        <p:spPr>
          <a:xfrm>
            <a:off x="5608440" y="2973600"/>
            <a:ext cx="415080" cy="486000"/>
          </a:xfrm>
          <a:custGeom>
            <a:avLst/>
            <a:gdLst>
              <a:gd name="textAreaLeft" fmla="*/ 0 w 415080"/>
              <a:gd name="textAreaRight" fmla="*/ 417240 w 415080"/>
              <a:gd name="textAreaTop" fmla="*/ 0 h 486000"/>
              <a:gd name="textAreaBottom" fmla="*/ 488160 h 486000"/>
            </a:gdLst>
            <a:ahLst/>
            <a:rect l="textAreaLeft" t="textAreaTop" r="textAreaRight" b="textAreaBottom"/>
            <a:pathLst>
              <a:path w="417195" h="488314">
                <a:moveTo>
                  <a:pt x="208533" y="0"/>
                </a:moveTo>
                <a:lnTo>
                  <a:pt x="208533" y="97536"/>
                </a:lnTo>
                <a:lnTo>
                  <a:pt x="0" y="97536"/>
                </a:lnTo>
                <a:lnTo>
                  <a:pt x="0" y="390271"/>
                </a:lnTo>
                <a:lnTo>
                  <a:pt x="208533" y="390271"/>
                </a:lnTo>
                <a:lnTo>
                  <a:pt x="208533" y="487934"/>
                </a:lnTo>
                <a:lnTo>
                  <a:pt x="417067" y="243967"/>
                </a:lnTo>
                <a:lnTo>
                  <a:pt x="208533" y="0"/>
                </a:lnTo>
                <a:close/>
              </a:path>
            </a:pathLst>
          </a:custGeom>
          <a:solidFill>
            <a:srgbClr val="c7ce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304" name="object 19"/>
          <p:cNvGrpSpPr/>
          <p:nvPr/>
        </p:nvGrpSpPr>
        <p:grpSpPr>
          <a:xfrm>
            <a:off x="6198480" y="1793520"/>
            <a:ext cx="1965600" cy="2846520"/>
            <a:chOff x="6198480" y="1793520"/>
            <a:chExt cx="1965600" cy="2846520"/>
          </a:xfrm>
        </p:grpSpPr>
        <p:sp>
          <p:nvSpPr>
            <p:cNvPr id="305" name="object 20"/>
            <p:cNvSpPr/>
            <p:nvPr/>
          </p:nvSpPr>
          <p:spPr>
            <a:xfrm>
              <a:off x="6198480" y="1793520"/>
              <a:ext cx="1965600" cy="2846520"/>
            </a:xfrm>
            <a:custGeom>
              <a:avLst/>
              <a:gdLst>
                <a:gd name="textAreaLeft" fmla="*/ 0 w 1965600"/>
                <a:gd name="textAreaRight" fmla="*/ 1967760 w 1965600"/>
                <a:gd name="textAreaTop" fmla="*/ 0 h 2846520"/>
                <a:gd name="textAreaBottom" fmla="*/ 2848680 h 2846520"/>
              </a:gdLst>
              <a:ahLst/>
              <a:rect l="textAreaLeft" t="textAreaTop" r="textAreaRight" b="textAreaBottom"/>
              <a:pathLst>
                <a:path w="1967865" h="2848610">
                  <a:moveTo>
                    <a:pt x="1770634" y="0"/>
                  </a:moveTo>
                  <a:lnTo>
                    <a:pt x="196723" y="0"/>
                  </a:lnTo>
                  <a:lnTo>
                    <a:pt x="151635" y="5198"/>
                  </a:lnTo>
                  <a:lnTo>
                    <a:pt x="110236" y="20006"/>
                  </a:lnTo>
                  <a:lnTo>
                    <a:pt x="73708" y="43237"/>
                  </a:lnTo>
                  <a:lnTo>
                    <a:pt x="43237" y="73708"/>
                  </a:lnTo>
                  <a:lnTo>
                    <a:pt x="20006" y="110236"/>
                  </a:lnTo>
                  <a:lnTo>
                    <a:pt x="5198" y="151635"/>
                  </a:lnTo>
                  <a:lnTo>
                    <a:pt x="0" y="196723"/>
                  </a:lnTo>
                  <a:lnTo>
                    <a:pt x="0" y="2651633"/>
                  </a:lnTo>
                  <a:lnTo>
                    <a:pt x="5198" y="2696735"/>
                  </a:lnTo>
                  <a:lnTo>
                    <a:pt x="20006" y="2738139"/>
                  </a:lnTo>
                  <a:lnTo>
                    <a:pt x="43237" y="2774663"/>
                  </a:lnTo>
                  <a:lnTo>
                    <a:pt x="73708" y="2805126"/>
                  </a:lnTo>
                  <a:lnTo>
                    <a:pt x="110236" y="2828348"/>
                  </a:lnTo>
                  <a:lnTo>
                    <a:pt x="151635" y="2843147"/>
                  </a:lnTo>
                  <a:lnTo>
                    <a:pt x="196723" y="2848343"/>
                  </a:lnTo>
                  <a:lnTo>
                    <a:pt x="1770634" y="2848343"/>
                  </a:lnTo>
                  <a:lnTo>
                    <a:pt x="1815721" y="2843147"/>
                  </a:lnTo>
                  <a:lnTo>
                    <a:pt x="1857120" y="2828348"/>
                  </a:lnTo>
                  <a:lnTo>
                    <a:pt x="1893648" y="2805126"/>
                  </a:lnTo>
                  <a:lnTo>
                    <a:pt x="1924119" y="2774663"/>
                  </a:lnTo>
                  <a:lnTo>
                    <a:pt x="1947350" y="2738139"/>
                  </a:lnTo>
                  <a:lnTo>
                    <a:pt x="1962158" y="2696735"/>
                  </a:lnTo>
                  <a:lnTo>
                    <a:pt x="1967357" y="2651633"/>
                  </a:lnTo>
                  <a:lnTo>
                    <a:pt x="1967357" y="196723"/>
                  </a:lnTo>
                  <a:lnTo>
                    <a:pt x="1962158" y="151635"/>
                  </a:lnTo>
                  <a:lnTo>
                    <a:pt x="1947350" y="110236"/>
                  </a:lnTo>
                  <a:lnTo>
                    <a:pt x="1924119" y="73708"/>
                  </a:lnTo>
                  <a:lnTo>
                    <a:pt x="1893648" y="43237"/>
                  </a:lnTo>
                  <a:lnTo>
                    <a:pt x="1857120" y="20006"/>
                  </a:lnTo>
                  <a:lnTo>
                    <a:pt x="1815721" y="5198"/>
                  </a:lnTo>
                  <a:lnTo>
                    <a:pt x="1770634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6" name="object 21"/>
            <p:cNvSpPr/>
            <p:nvPr/>
          </p:nvSpPr>
          <p:spPr>
            <a:xfrm>
              <a:off x="6198480" y="1793520"/>
              <a:ext cx="1965600" cy="2846520"/>
            </a:xfrm>
            <a:custGeom>
              <a:avLst/>
              <a:gdLst>
                <a:gd name="textAreaLeft" fmla="*/ 0 w 1965600"/>
                <a:gd name="textAreaRight" fmla="*/ 1967760 w 1965600"/>
                <a:gd name="textAreaTop" fmla="*/ 0 h 2846520"/>
                <a:gd name="textAreaBottom" fmla="*/ 2848680 h 2846520"/>
              </a:gdLst>
              <a:ahLst/>
              <a:rect l="textAreaLeft" t="textAreaTop" r="textAreaRight" b="textAreaBottom"/>
              <a:pathLst>
                <a:path w="1967865" h="2848610">
                  <a:moveTo>
                    <a:pt x="0" y="196723"/>
                  </a:moveTo>
                  <a:lnTo>
                    <a:pt x="5198" y="151635"/>
                  </a:lnTo>
                  <a:lnTo>
                    <a:pt x="20006" y="110236"/>
                  </a:lnTo>
                  <a:lnTo>
                    <a:pt x="43237" y="73708"/>
                  </a:lnTo>
                  <a:lnTo>
                    <a:pt x="73708" y="43237"/>
                  </a:lnTo>
                  <a:lnTo>
                    <a:pt x="110236" y="20006"/>
                  </a:lnTo>
                  <a:lnTo>
                    <a:pt x="151635" y="5198"/>
                  </a:lnTo>
                  <a:lnTo>
                    <a:pt x="196723" y="0"/>
                  </a:lnTo>
                  <a:lnTo>
                    <a:pt x="1770634" y="0"/>
                  </a:lnTo>
                  <a:lnTo>
                    <a:pt x="1815721" y="5198"/>
                  </a:lnTo>
                  <a:lnTo>
                    <a:pt x="1857120" y="20006"/>
                  </a:lnTo>
                  <a:lnTo>
                    <a:pt x="1893648" y="43237"/>
                  </a:lnTo>
                  <a:lnTo>
                    <a:pt x="1924119" y="73708"/>
                  </a:lnTo>
                  <a:lnTo>
                    <a:pt x="1947350" y="110236"/>
                  </a:lnTo>
                  <a:lnTo>
                    <a:pt x="1962158" y="151635"/>
                  </a:lnTo>
                  <a:lnTo>
                    <a:pt x="1967357" y="196723"/>
                  </a:lnTo>
                  <a:lnTo>
                    <a:pt x="1967357" y="2651633"/>
                  </a:lnTo>
                  <a:lnTo>
                    <a:pt x="1962158" y="2696735"/>
                  </a:lnTo>
                  <a:lnTo>
                    <a:pt x="1947350" y="2738139"/>
                  </a:lnTo>
                  <a:lnTo>
                    <a:pt x="1924119" y="2774663"/>
                  </a:lnTo>
                  <a:lnTo>
                    <a:pt x="1893648" y="2805126"/>
                  </a:lnTo>
                  <a:lnTo>
                    <a:pt x="1857120" y="2828348"/>
                  </a:lnTo>
                  <a:lnTo>
                    <a:pt x="1815721" y="2843147"/>
                  </a:lnTo>
                  <a:lnTo>
                    <a:pt x="1770634" y="2848343"/>
                  </a:lnTo>
                  <a:lnTo>
                    <a:pt x="196723" y="2848343"/>
                  </a:lnTo>
                  <a:lnTo>
                    <a:pt x="151635" y="2843147"/>
                  </a:lnTo>
                  <a:lnTo>
                    <a:pt x="110236" y="2828348"/>
                  </a:lnTo>
                  <a:lnTo>
                    <a:pt x="73708" y="2805126"/>
                  </a:lnTo>
                  <a:lnTo>
                    <a:pt x="43237" y="2774663"/>
                  </a:lnTo>
                  <a:lnTo>
                    <a:pt x="20006" y="2738139"/>
                  </a:lnTo>
                  <a:lnTo>
                    <a:pt x="5198" y="2696735"/>
                  </a:lnTo>
                  <a:lnTo>
                    <a:pt x="0" y="2651633"/>
                  </a:lnTo>
                  <a:lnTo>
                    <a:pt x="0" y="196723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07" name="object 22"/>
          <p:cNvSpPr/>
          <p:nvPr/>
        </p:nvSpPr>
        <p:spPr>
          <a:xfrm>
            <a:off x="6272640" y="1860120"/>
            <a:ext cx="1742040" cy="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38160"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Entraînement</a:t>
            </a:r>
            <a:r>
              <a:rPr b="0" lang="fr-FR" sz="14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d’un</a:t>
            </a:r>
            <a:r>
              <a:rPr b="0" lang="fr-FR" sz="140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35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r>
              <a:rPr b="0" lang="fr-FR" sz="1350" spc="-52" strike="noStrike" baseline="24000">
                <a:solidFill>
                  <a:srgbClr val="ffffff"/>
                </a:solidFill>
                <a:latin typeface="Arial"/>
                <a:ea typeface="DejaVu Sans"/>
              </a:rPr>
              <a:t>e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</a:t>
            </a:r>
            <a:r>
              <a:rPr b="0" lang="fr-FR" sz="140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simplfié: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95760" indent="-58320">
              <a:lnSpc>
                <a:spcPts val="1140"/>
              </a:lnSpc>
              <a:spcBef>
                <a:spcPts val="564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96480"/>
              </a:tabLst>
            </a:pP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Features:consommation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prédite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+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features majeures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object 23"/>
          <p:cNvSpPr/>
          <p:nvPr/>
        </p:nvSpPr>
        <p:spPr>
          <a:xfrm>
            <a:off x="6297840" y="2933280"/>
            <a:ext cx="16214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Symbol"/>
              <a:buChar char=""/>
              <a:tabLst>
                <a:tab algn="l" pos="71280"/>
              </a:tabLst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(optimisation</a:t>
            </a:r>
            <a:r>
              <a:rPr b="0" lang="fr-FR" sz="11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avec</a:t>
            </a:r>
            <a:r>
              <a:rPr b="0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search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CV)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object 24"/>
          <p:cNvSpPr/>
          <p:nvPr/>
        </p:nvSpPr>
        <p:spPr>
          <a:xfrm>
            <a:off x="6297840" y="3414960"/>
            <a:ext cx="12308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70560" indent="-58320">
              <a:lnSpc>
                <a:spcPts val="1140"/>
              </a:lnSpc>
              <a:spcBef>
                <a:spcPts val="289"/>
              </a:spcBef>
              <a:buClr>
                <a:srgbClr val="ffffff"/>
              </a:buClr>
              <a:buSzPct val="91000"/>
              <a:buFont typeface="Arial"/>
              <a:buChar char="•"/>
              <a:tabLst>
                <a:tab algn="l" pos="7128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RMSE</a:t>
            </a:r>
            <a:r>
              <a:rPr b="1" lang="fr-FR" sz="11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: </a:t>
            </a:r>
            <a:r>
              <a:rPr b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?</a:t>
            </a:r>
            <a:r>
              <a:rPr b="1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(jeu</a:t>
            </a:r>
            <a:r>
              <a:rPr b="0" lang="fr-FR" sz="1100" spc="-26" strike="noStrike">
                <a:solidFill>
                  <a:srgbClr val="ffffff"/>
                </a:solidFill>
                <a:latin typeface="Arial"/>
                <a:ea typeface="DejaVu Sans"/>
              </a:rPr>
              <a:t> de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validation)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object 2"/>
          <p:cNvSpPr/>
          <p:nvPr/>
        </p:nvSpPr>
        <p:spPr>
          <a:xfrm>
            <a:off x="801000" y="2264400"/>
            <a:ext cx="658332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IV</a:t>
            </a:r>
            <a:r>
              <a:rPr b="0" lang="fr-FR" sz="4800" spc="-296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51" strike="noStrike">
                <a:solidFill>
                  <a:srgbClr val="f3f1dc"/>
                </a:solidFill>
                <a:latin typeface="Arial"/>
                <a:ea typeface="DejaVu Sans"/>
              </a:rPr>
              <a:t>–PRÉSENTATION</a:t>
            </a:r>
            <a:r>
              <a:rPr b="0" lang="fr-FR" sz="4800" spc="-23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35" strike="noStrike">
                <a:solidFill>
                  <a:srgbClr val="f3f1dc"/>
                </a:solidFill>
                <a:latin typeface="Arial"/>
                <a:ea typeface="DejaVu Sans"/>
              </a:rPr>
              <a:t>DU </a:t>
            </a:r>
            <a:r>
              <a:rPr b="0" lang="fr-FR" sz="4800" spc="-100" strike="noStrike">
                <a:solidFill>
                  <a:srgbClr val="f3f1dc"/>
                </a:solidFill>
                <a:latin typeface="Arial"/>
                <a:ea typeface="DejaVu Sans"/>
              </a:rPr>
              <a:t>MODÈLE</a:t>
            </a:r>
            <a:r>
              <a:rPr b="0" lang="fr-FR" sz="4800" spc="-216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FINAL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object 3"/>
          <p:cNvSpPr/>
          <p:nvPr/>
        </p:nvSpPr>
        <p:spPr>
          <a:xfrm>
            <a:off x="801000" y="3882240"/>
            <a:ext cx="5289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ainsi</a:t>
            </a:r>
            <a:r>
              <a:rPr b="0" lang="fr-FR" sz="2400" spc="-21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que</a:t>
            </a:r>
            <a:r>
              <a:rPr b="0" lang="fr-FR" sz="2400" spc="-35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des</a:t>
            </a:r>
            <a:r>
              <a:rPr b="0" lang="fr-FR" sz="2400" spc="-32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améliorations </a:t>
            </a:r>
            <a:r>
              <a:rPr b="0" lang="fr-FR" sz="2400" spc="-12" strike="noStrike">
                <a:solidFill>
                  <a:srgbClr val="ffc000"/>
                </a:solidFill>
                <a:latin typeface="Arial"/>
                <a:ea typeface="DejaVu Sans"/>
              </a:rPr>
              <a:t>effectuées.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object 4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16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object 2" descr=""/>
          <p:cNvPicPr/>
          <p:nvPr/>
        </p:nvPicPr>
        <p:blipFill>
          <a:blip r:embed="rId1"/>
          <a:stretch/>
        </p:blipFill>
        <p:spPr>
          <a:xfrm>
            <a:off x="5194440" y="2130840"/>
            <a:ext cx="3293640" cy="1207440"/>
          </a:xfrm>
          <a:prstGeom prst="rect">
            <a:avLst/>
          </a:prstGeom>
          <a:ln w="0">
            <a:noFill/>
          </a:ln>
        </p:spPr>
      </p:pic>
      <p:grpSp>
        <p:nvGrpSpPr>
          <p:cNvPr id="314" name="object 3"/>
          <p:cNvGrpSpPr/>
          <p:nvPr/>
        </p:nvGrpSpPr>
        <p:grpSpPr>
          <a:xfrm>
            <a:off x="513000" y="1686240"/>
            <a:ext cx="4469040" cy="3012480"/>
            <a:chOff x="513000" y="1686240"/>
            <a:chExt cx="4469040" cy="3012480"/>
          </a:xfrm>
        </p:grpSpPr>
        <p:pic>
          <p:nvPicPr>
            <p:cNvPr id="315" name="object 4" descr=""/>
            <p:cNvPicPr/>
            <p:nvPr/>
          </p:nvPicPr>
          <p:blipFill>
            <a:blip r:embed="rId2"/>
            <a:stretch/>
          </p:blipFill>
          <p:spPr>
            <a:xfrm>
              <a:off x="513000" y="1686240"/>
              <a:ext cx="4469040" cy="2812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6" name="object 5"/>
            <p:cNvSpPr/>
            <p:nvPr/>
          </p:nvSpPr>
          <p:spPr>
            <a:xfrm>
              <a:off x="1091160" y="2386440"/>
              <a:ext cx="1731240" cy="2312280"/>
            </a:xfrm>
            <a:custGeom>
              <a:avLst/>
              <a:gdLst>
                <a:gd name="textAreaLeft" fmla="*/ 0 w 1731240"/>
                <a:gd name="textAreaRight" fmla="*/ 1733400 w 1731240"/>
                <a:gd name="textAreaTop" fmla="*/ 0 h 2312280"/>
                <a:gd name="textAreaBottom" fmla="*/ 2314440 h 2312280"/>
              </a:gdLst>
              <a:ahLst/>
              <a:rect l="textAreaLeft" t="textAreaTop" r="textAreaRight" b="textAreaBottom"/>
              <a:pathLst>
                <a:path w="1733550" h="2314575">
                  <a:moveTo>
                    <a:pt x="733374" y="1085849"/>
                  </a:moveTo>
                  <a:lnTo>
                    <a:pt x="733374" y="0"/>
                  </a:lnTo>
                  <a:lnTo>
                    <a:pt x="1733499" y="0"/>
                  </a:lnTo>
                  <a:lnTo>
                    <a:pt x="1733499" y="1095374"/>
                  </a:lnTo>
                  <a:lnTo>
                    <a:pt x="514299" y="2314549"/>
                  </a:lnTo>
                  <a:lnTo>
                    <a:pt x="0" y="1800225"/>
                  </a:lnTo>
                  <a:lnTo>
                    <a:pt x="733374" y="1085849"/>
                  </a:lnTo>
                  <a:close/>
                </a:path>
              </a:pathLst>
            </a:custGeom>
            <a:noFill/>
            <a:ln w="26424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36040" y="319320"/>
            <a:ext cx="8283240" cy="1804320"/>
          </a:xfrm>
          <a:prstGeom prst="rect">
            <a:avLst/>
          </a:prstGeom>
          <a:noFill/>
          <a:ln w="0">
            <a:noFill/>
          </a:ln>
        </p:spPr>
        <p:txBody>
          <a:bodyPr lIns="0" rIns="0" tIns="219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72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obtenus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(consommation)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4272120" indent="0">
              <a:lnSpc>
                <a:spcPct val="100000"/>
              </a:lnSpc>
              <a:spcBef>
                <a:spcPts val="734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     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Comparaison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sur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jeu</a:t>
            </a:r>
            <a:r>
              <a:rPr b="1" lang="fr-FR" sz="18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1" lang="fr-FR" sz="18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21" strike="noStrike">
                <a:solidFill>
                  <a:srgbClr val="292934"/>
                </a:solidFill>
                <a:latin typeface="Arial"/>
              </a:rPr>
              <a:t>test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object 7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object 8"/>
          <p:cNvSpPr/>
          <p:nvPr/>
        </p:nvSpPr>
        <p:spPr>
          <a:xfrm>
            <a:off x="5220000" y="2641320"/>
            <a:ext cx="3249000" cy="214200"/>
          </a:xfrm>
          <a:custGeom>
            <a:avLst/>
            <a:gdLst>
              <a:gd name="textAreaLeft" fmla="*/ 0 w 3249000"/>
              <a:gd name="textAreaRight" fmla="*/ 3251160 w 3249000"/>
              <a:gd name="textAreaTop" fmla="*/ 0 h 214200"/>
              <a:gd name="textAreaBottom" fmla="*/ 216360 h 214200"/>
            </a:gdLst>
            <a:ahLst/>
            <a:rect l="textAreaLeft" t="textAreaTop" r="textAreaRight" b="textAreaBottom"/>
            <a:pathLst>
              <a:path w="3251200" h="216535">
                <a:moveTo>
                  <a:pt x="0" y="216026"/>
                </a:moveTo>
                <a:lnTo>
                  <a:pt x="3251073" y="216026"/>
                </a:lnTo>
                <a:lnTo>
                  <a:pt x="3251073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noFill/>
          <a:ln w="26424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20" name="object 10" descr=""/>
          <p:cNvPicPr/>
          <p:nvPr/>
        </p:nvPicPr>
        <p:blipFill>
          <a:blip r:embed="rId3"/>
          <a:stretch/>
        </p:blipFill>
        <p:spPr>
          <a:xfrm>
            <a:off x="5431320" y="3701520"/>
            <a:ext cx="2692800" cy="198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object 2"/>
          <p:cNvGrpSpPr/>
          <p:nvPr/>
        </p:nvGrpSpPr>
        <p:grpSpPr>
          <a:xfrm>
            <a:off x="21960" y="1914840"/>
            <a:ext cx="9063000" cy="3538440"/>
            <a:chOff x="21960" y="1914840"/>
            <a:chExt cx="9063000" cy="3538440"/>
          </a:xfrm>
        </p:grpSpPr>
        <p:pic>
          <p:nvPicPr>
            <p:cNvPr id="322" name="object 3" descr=""/>
            <p:cNvPicPr/>
            <p:nvPr/>
          </p:nvPicPr>
          <p:blipFill>
            <a:blip r:embed="rId1"/>
            <a:stretch/>
          </p:blipFill>
          <p:spPr>
            <a:xfrm>
              <a:off x="21960" y="1914840"/>
              <a:ext cx="8998200" cy="3538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23" name="object 4"/>
            <p:cNvSpPr/>
            <p:nvPr/>
          </p:nvSpPr>
          <p:spPr>
            <a:xfrm>
              <a:off x="4971960" y="2425320"/>
              <a:ext cx="2406240" cy="2392560"/>
            </a:xfrm>
            <a:custGeom>
              <a:avLst/>
              <a:gdLst>
                <a:gd name="textAreaLeft" fmla="*/ 0 w 2406240"/>
                <a:gd name="textAreaRight" fmla="*/ 2408400 w 2406240"/>
                <a:gd name="textAreaTop" fmla="*/ 0 h 2392560"/>
                <a:gd name="textAreaBottom" fmla="*/ 2394720 h 2392560"/>
              </a:gdLst>
              <a:ahLst/>
              <a:rect l="textAreaLeft" t="textAreaTop" r="textAreaRight" b="textAreaBottom"/>
              <a:pathLst>
                <a:path w="2408554" h="2394585">
                  <a:moveTo>
                    <a:pt x="0" y="2394204"/>
                  </a:moveTo>
                  <a:lnTo>
                    <a:pt x="2408301" y="0"/>
                  </a:lnTo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4" name="object 5"/>
            <p:cNvSpPr/>
            <p:nvPr/>
          </p:nvSpPr>
          <p:spPr>
            <a:xfrm>
              <a:off x="6959880" y="2601360"/>
              <a:ext cx="2125080" cy="2258280"/>
            </a:xfrm>
            <a:custGeom>
              <a:avLst/>
              <a:gdLst>
                <a:gd name="textAreaLeft" fmla="*/ 0 w 2125080"/>
                <a:gd name="textAreaRight" fmla="*/ 2127240 w 2125080"/>
                <a:gd name="textAreaTop" fmla="*/ 0 h 2258280"/>
                <a:gd name="textAreaBottom" fmla="*/ 2260440 h 2258280"/>
              </a:gdLst>
              <a:ahLst/>
              <a:rect l="textAreaLeft" t="textAreaTop" r="textAreaRight" b="textAreaBottom"/>
              <a:pathLst>
                <a:path w="2127250" h="2260600">
                  <a:moveTo>
                    <a:pt x="329643" y="546672"/>
                  </a:moveTo>
                  <a:lnTo>
                    <a:pt x="364641" y="504128"/>
                  </a:lnTo>
                  <a:lnTo>
                    <a:pt x="400665" y="463187"/>
                  </a:lnTo>
                  <a:lnTo>
                    <a:pt x="437654" y="423867"/>
                  </a:lnTo>
                  <a:lnTo>
                    <a:pt x="475547" y="386182"/>
                  </a:lnTo>
                  <a:lnTo>
                    <a:pt x="514283" y="350148"/>
                  </a:lnTo>
                  <a:lnTo>
                    <a:pt x="553800" y="315781"/>
                  </a:lnTo>
                  <a:lnTo>
                    <a:pt x="594038" y="283096"/>
                  </a:lnTo>
                  <a:lnTo>
                    <a:pt x="634934" y="252109"/>
                  </a:lnTo>
                  <a:lnTo>
                    <a:pt x="676429" y="222836"/>
                  </a:lnTo>
                  <a:lnTo>
                    <a:pt x="718462" y="195292"/>
                  </a:lnTo>
                  <a:lnTo>
                    <a:pt x="760970" y="169493"/>
                  </a:lnTo>
                  <a:lnTo>
                    <a:pt x="803893" y="145454"/>
                  </a:lnTo>
                  <a:lnTo>
                    <a:pt x="847170" y="123192"/>
                  </a:lnTo>
                  <a:lnTo>
                    <a:pt x="890739" y="102721"/>
                  </a:lnTo>
                  <a:lnTo>
                    <a:pt x="934540" y="84058"/>
                  </a:lnTo>
                  <a:lnTo>
                    <a:pt x="978512" y="67218"/>
                  </a:lnTo>
                  <a:lnTo>
                    <a:pt x="1022592" y="52216"/>
                  </a:lnTo>
                  <a:lnTo>
                    <a:pt x="1066721" y="39069"/>
                  </a:lnTo>
                  <a:lnTo>
                    <a:pt x="1110838" y="27791"/>
                  </a:lnTo>
                  <a:lnTo>
                    <a:pt x="1154880" y="18399"/>
                  </a:lnTo>
                  <a:lnTo>
                    <a:pt x="1198787" y="10908"/>
                  </a:lnTo>
                  <a:lnTo>
                    <a:pt x="1242498" y="5334"/>
                  </a:lnTo>
                  <a:lnTo>
                    <a:pt x="1285952" y="1693"/>
                  </a:lnTo>
                  <a:lnTo>
                    <a:pt x="1329087" y="0"/>
                  </a:lnTo>
                  <a:lnTo>
                    <a:pt x="1371843" y="270"/>
                  </a:lnTo>
                  <a:lnTo>
                    <a:pt x="1414158" y="2519"/>
                  </a:lnTo>
                  <a:lnTo>
                    <a:pt x="1455972" y="6764"/>
                  </a:lnTo>
                  <a:lnTo>
                    <a:pt x="1497222" y="13019"/>
                  </a:lnTo>
                  <a:lnTo>
                    <a:pt x="1537849" y="21300"/>
                  </a:lnTo>
                  <a:lnTo>
                    <a:pt x="1577791" y="31623"/>
                  </a:lnTo>
                  <a:lnTo>
                    <a:pt x="1616986" y="44004"/>
                  </a:lnTo>
                  <a:lnTo>
                    <a:pt x="1655375" y="58458"/>
                  </a:lnTo>
                  <a:lnTo>
                    <a:pt x="1692894" y="75000"/>
                  </a:lnTo>
                  <a:lnTo>
                    <a:pt x="1729485" y="93647"/>
                  </a:lnTo>
                  <a:lnTo>
                    <a:pt x="1765085" y="114414"/>
                  </a:lnTo>
                  <a:lnTo>
                    <a:pt x="1799633" y="137316"/>
                  </a:lnTo>
                  <a:lnTo>
                    <a:pt x="1833069" y="162370"/>
                  </a:lnTo>
                  <a:lnTo>
                    <a:pt x="1865004" y="189300"/>
                  </a:lnTo>
                  <a:lnTo>
                    <a:pt x="1895094" y="217798"/>
                  </a:lnTo>
                  <a:lnTo>
                    <a:pt x="1923340" y="247803"/>
                  </a:lnTo>
                  <a:lnTo>
                    <a:pt x="1949744" y="279250"/>
                  </a:lnTo>
                  <a:lnTo>
                    <a:pt x="1974307" y="312077"/>
                  </a:lnTo>
                  <a:lnTo>
                    <a:pt x="1997031" y="346221"/>
                  </a:lnTo>
                  <a:lnTo>
                    <a:pt x="2017916" y="381618"/>
                  </a:lnTo>
                  <a:lnTo>
                    <a:pt x="2036965" y="418206"/>
                  </a:lnTo>
                  <a:lnTo>
                    <a:pt x="2054179" y="455921"/>
                  </a:lnTo>
                  <a:lnTo>
                    <a:pt x="2069559" y="494701"/>
                  </a:lnTo>
                  <a:lnTo>
                    <a:pt x="2083108" y="534482"/>
                  </a:lnTo>
                  <a:lnTo>
                    <a:pt x="2094825" y="575202"/>
                  </a:lnTo>
                  <a:lnTo>
                    <a:pt x="2104714" y="616796"/>
                  </a:lnTo>
                  <a:lnTo>
                    <a:pt x="2112774" y="659203"/>
                  </a:lnTo>
                  <a:lnTo>
                    <a:pt x="2119009" y="702359"/>
                  </a:lnTo>
                  <a:lnTo>
                    <a:pt x="2123419" y="746201"/>
                  </a:lnTo>
                  <a:lnTo>
                    <a:pt x="2126006" y="790666"/>
                  </a:lnTo>
                  <a:lnTo>
                    <a:pt x="2126771" y="835691"/>
                  </a:lnTo>
                  <a:lnTo>
                    <a:pt x="2125715" y="881213"/>
                  </a:lnTo>
                  <a:lnTo>
                    <a:pt x="2122841" y="927168"/>
                  </a:lnTo>
                  <a:lnTo>
                    <a:pt x="2118149" y="973494"/>
                  </a:lnTo>
                  <a:lnTo>
                    <a:pt x="2111642" y="1020128"/>
                  </a:lnTo>
                  <a:lnTo>
                    <a:pt x="2103320" y="1067007"/>
                  </a:lnTo>
                  <a:lnTo>
                    <a:pt x="2093185" y="1114067"/>
                  </a:lnTo>
                  <a:lnTo>
                    <a:pt x="2081239" y="1161245"/>
                  </a:lnTo>
                  <a:lnTo>
                    <a:pt x="2067483" y="1208479"/>
                  </a:lnTo>
                  <a:lnTo>
                    <a:pt x="2051918" y="1255706"/>
                  </a:lnTo>
                  <a:lnTo>
                    <a:pt x="2034546" y="1302861"/>
                  </a:lnTo>
                  <a:lnTo>
                    <a:pt x="2015369" y="1349883"/>
                  </a:lnTo>
                  <a:lnTo>
                    <a:pt x="1994388" y="1396708"/>
                  </a:lnTo>
                  <a:lnTo>
                    <a:pt x="1971604" y="1443273"/>
                  </a:lnTo>
                  <a:lnTo>
                    <a:pt x="1947018" y="1489516"/>
                  </a:lnTo>
                  <a:lnTo>
                    <a:pt x="1920634" y="1535372"/>
                  </a:lnTo>
                  <a:lnTo>
                    <a:pt x="1892451" y="1580779"/>
                  </a:lnTo>
                  <a:lnTo>
                    <a:pt x="1862471" y="1625674"/>
                  </a:lnTo>
                  <a:lnTo>
                    <a:pt x="1830696" y="1669994"/>
                  </a:lnTo>
                  <a:lnTo>
                    <a:pt x="1797128" y="1713675"/>
                  </a:lnTo>
                  <a:lnTo>
                    <a:pt x="1762129" y="1756220"/>
                  </a:lnTo>
                  <a:lnTo>
                    <a:pt x="1726105" y="1797162"/>
                  </a:lnTo>
                  <a:lnTo>
                    <a:pt x="1689116" y="1836483"/>
                  </a:lnTo>
                  <a:lnTo>
                    <a:pt x="1651223" y="1874169"/>
                  </a:lnTo>
                  <a:lnTo>
                    <a:pt x="1612487" y="1910204"/>
                  </a:lnTo>
                  <a:lnTo>
                    <a:pt x="1572970" y="1944571"/>
                  </a:lnTo>
                  <a:lnTo>
                    <a:pt x="1532732" y="1977257"/>
                  </a:lnTo>
                  <a:lnTo>
                    <a:pt x="1491836" y="2008245"/>
                  </a:lnTo>
                  <a:lnTo>
                    <a:pt x="1450341" y="2037519"/>
                  </a:lnTo>
                  <a:lnTo>
                    <a:pt x="1408308" y="2065064"/>
                  </a:lnTo>
                  <a:lnTo>
                    <a:pt x="1365800" y="2090864"/>
                  </a:lnTo>
                  <a:lnTo>
                    <a:pt x="1322877" y="2114903"/>
                  </a:lnTo>
                  <a:lnTo>
                    <a:pt x="1279600" y="2137166"/>
                  </a:lnTo>
                  <a:lnTo>
                    <a:pt x="1236031" y="2157638"/>
                  </a:lnTo>
                  <a:lnTo>
                    <a:pt x="1192230" y="2176302"/>
                  </a:lnTo>
                  <a:lnTo>
                    <a:pt x="1148258" y="2193144"/>
                  </a:lnTo>
                  <a:lnTo>
                    <a:pt x="1104178" y="2208147"/>
                  </a:lnTo>
                  <a:lnTo>
                    <a:pt x="1060049" y="2221295"/>
                  </a:lnTo>
                  <a:lnTo>
                    <a:pt x="1015932" y="2232574"/>
                  </a:lnTo>
                  <a:lnTo>
                    <a:pt x="971890" y="2241967"/>
                  </a:lnTo>
                  <a:lnTo>
                    <a:pt x="927983" y="2249460"/>
                  </a:lnTo>
                  <a:lnTo>
                    <a:pt x="884272" y="2255035"/>
                  </a:lnTo>
                  <a:lnTo>
                    <a:pt x="840818" y="2258678"/>
                  </a:lnTo>
                  <a:lnTo>
                    <a:pt x="797683" y="2260373"/>
                  </a:lnTo>
                  <a:lnTo>
                    <a:pt x="754927" y="2260105"/>
                  </a:lnTo>
                  <a:lnTo>
                    <a:pt x="712612" y="2257858"/>
                  </a:lnTo>
                  <a:lnTo>
                    <a:pt x="670798" y="2253615"/>
                  </a:lnTo>
                  <a:lnTo>
                    <a:pt x="629548" y="2247363"/>
                  </a:lnTo>
                  <a:lnTo>
                    <a:pt x="588921" y="2239084"/>
                  </a:lnTo>
                  <a:lnTo>
                    <a:pt x="548979" y="2228763"/>
                  </a:lnTo>
                  <a:lnTo>
                    <a:pt x="509784" y="2216386"/>
                  </a:lnTo>
                  <a:lnTo>
                    <a:pt x="471395" y="2201935"/>
                  </a:lnTo>
                  <a:lnTo>
                    <a:pt x="433876" y="2185396"/>
                  </a:lnTo>
                  <a:lnTo>
                    <a:pt x="397285" y="2166752"/>
                  </a:lnTo>
                  <a:lnTo>
                    <a:pt x="361685" y="2145989"/>
                  </a:lnTo>
                  <a:lnTo>
                    <a:pt x="327137" y="2123090"/>
                  </a:lnTo>
                  <a:lnTo>
                    <a:pt x="293702" y="2098040"/>
                  </a:lnTo>
                  <a:lnTo>
                    <a:pt x="261766" y="2071106"/>
                  </a:lnTo>
                  <a:lnTo>
                    <a:pt x="231676" y="2042602"/>
                  </a:lnTo>
                  <a:lnTo>
                    <a:pt x="203430" y="2012593"/>
                  </a:lnTo>
                  <a:lnTo>
                    <a:pt x="177026" y="1981142"/>
                  </a:lnTo>
                  <a:lnTo>
                    <a:pt x="152463" y="1948311"/>
                  </a:lnTo>
                  <a:lnTo>
                    <a:pt x="129739" y="1914163"/>
                  </a:lnTo>
                  <a:lnTo>
                    <a:pt x="108854" y="1878763"/>
                  </a:lnTo>
                  <a:lnTo>
                    <a:pt x="89805" y="1842172"/>
                  </a:lnTo>
                  <a:lnTo>
                    <a:pt x="72591" y="1804453"/>
                  </a:lnTo>
                  <a:lnTo>
                    <a:pt x="57211" y="1765671"/>
                  </a:lnTo>
                  <a:lnTo>
                    <a:pt x="43663" y="1725887"/>
                  </a:lnTo>
                  <a:lnTo>
                    <a:pt x="31945" y="1685165"/>
                  </a:lnTo>
                  <a:lnTo>
                    <a:pt x="22056" y="1643568"/>
                  </a:lnTo>
                  <a:lnTo>
                    <a:pt x="13996" y="1601159"/>
                  </a:lnTo>
                  <a:lnTo>
                    <a:pt x="7761" y="1558001"/>
                  </a:lnTo>
                  <a:lnTo>
                    <a:pt x="3351" y="1514158"/>
                  </a:lnTo>
                  <a:lnTo>
                    <a:pt x="764" y="1469691"/>
                  </a:lnTo>
                  <a:lnTo>
                    <a:pt x="0" y="1424665"/>
                  </a:lnTo>
                  <a:lnTo>
                    <a:pt x="1055" y="1379142"/>
                  </a:lnTo>
                  <a:lnTo>
                    <a:pt x="3929" y="1333185"/>
                  </a:lnTo>
                  <a:lnTo>
                    <a:pt x="8621" y="1286858"/>
                  </a:lnTo>
                  <a:lnTo>
                    <a:pt x="15128" y="1240223"/>
                  </a:lnTo>
                  <a:lnTo>
                    <a:pt x="23450" y="1193344"/>
                  </a:lnTo>
                  <a:lnTo>
                    <a:pt x="33585" y="1146283"/>
                  </a:lnTo>
                  <a:lnTo>
                    <a:pt x="45531" y="1099104"/>
                  </a:lnTo>
                  <a:lnTo>
                    <a:pt x="59287" y="1051869"/>
                  </a:lnTo>
                  <a:lnTo>
                    <a:pt x="74852" y="1004643"/>
                  </a:lnTo>
                  <a:lnTo>
                    <a:pt x="92224" y="957487"/>
                  </a:lnTo>
                  <a:lnTo>
                    <a:pt x="111401" y="910464"/>
                  </a:lnTo>
                  <a:lnTo>
                    <a:pt x="132382" y="863639"/>
                  </a:lnTo>
                  <a:lnTo>
                    <a:pt x="155166" y="817074"/>
                  </a:lnTo>
                  <a:lnTo>
                    <a:pt x="179752" y="770832"/>
                  </a:lnTo>
                  <a:lnTo>
                    <a:pt x="206136" y="724975"/>
                  </a:lnTo>
                  <a:lnTo>
                    <a:pt x="234319" y="679568"/>
                  </a:lnTo>
                  <a:lnTo>
                    <a:pt x="264299" y="634673"/>
                  </a:lnTo>
                  <a:lnTo>
                    <a:pt x="296074" y="590353"/>
                  </a:lnTo>
                  <a:lnTo>
                    <a:pt x="329643" y="546672"/>
                  </a:lnTo>
                  <a:close/>
                </a:path>
              </a:pathLst>
            </a:custGeom>
            <a:noFill/>
            <a:ln w="26424">
              <a:solidFill>
                <a:srgbClr val="c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5" name="object 6"/>
            <p:cNvSpPr/>
            <p:nvPr/>
          </p:nvSpPr>
          <p:spPr>
            <a:xfrm>
              <a:off x="3291480" y="3217680"/>
              <a:ext cx="1062720" cy="449280"/>
            </a:xfrm>
            <a:custGeom>
              <a:avLst/>
              <a:gdLst>
                <a:gd name="textAreaLeft" fmla="*/ 0 w 1062720"/>
                <a:gd name="textAreaRight" fmla="*/ 1064880 w 1062720"/>
                <a:gd name="textAreaTop" fmla="*/ 0 h 449280"/>
                <a:gd name="textAreaBottom" fmla="*/ 451440 h 449280"/>
              </a:gdLst>
              <a:ahLst/>
              <a:rect l="textAreaLeft" t="textAreaTop" r="textAreaRight" b="textAreaBottom"/>
              <a:pathLst>
                <a:path w="1064895" h="451485">
                  <a:moveTo>
                    <a:pt x="838962" y="0"/>
                  </a:moveTo>
                  <a:lnTo>
                    <a:pt x="838962" y="112775"/>
                  </a:lnTo>
                  <a:lnTo>
                    <a:pt x="0" y="112775"/>
                  </a:lnTo>
                  <a:lnTo>
                    <a:pt x="0" y="338328"/>
                  </a:lnTo>
                  <a:lnTo>
                    <a:pt x="838962" y="338328"/>
                  </a:lnTo>
                  <a:lnTo>
                    <a:pt x="838962" y="451104"/>
                  </a:lnTo>
                  <a:lnTo>
                    <a:pt x="1064514" y="225552"/>
                  </a:lnTo>
                  <a:lnTo>
                    <a:pt x="83896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6" name="object 7"/>
            <p:cNvSpPr/>
            <p:nvPr/>
          </p:nvSpPr>
          <p:spPr>
            <a:xfrm>
              <a:off x="3291480" y="3217680"/>
              <a:ext cx="1062720" cy="449280"/>
            </a:xfrm>
            <a:custGeom>
              <a:avLst/>
              <a:gdLst>
                <a:gd name="textAreaLeft" fmla="*/ 0 w 1062720"/>
                <a:gd name="textAreaRight" fmla="*/ 1064880 w 1062720"/>
                <a:gd name="textAreaTop" fmla="*/ 0 h 449280"/>
                <a:gd name="textAreaBottom" fmla="*/ 451440 h 449280"/>
              </a:gdLst>
              <a:ahLst/>
              <a:rect l="textAreaLeft" t="textAreaTop" r="textAreaRight" b="textAreaBottom"/>
              <a:pathLst>
                <a:path w="1064895" h="451485">
                  <a:moveTo>
                    <a:pt x="0" y="112775"/>
                  </a:moveTo>
                  <a:lnTo>
                    <a:pt x="838962" y="112775"/>
                  </a:lnTo>
                  <a:lnTo>
                    <a:pt x="838962" y="0"/>
                  </a:lnTo>
                  <a:lnTo>
                    <a:pt x="1064514" y="225552"/>
                  </a:lnTo>
                  <a:lnTo>
                    <a:pt x="838962" y="451104"/>
                  </a:lnTo>
                  <a:lnTo>
                    <a:pt x="838962" y="338328"/>
                  </a:lnTo>
                  <a:lnTo>
                    <a:pt x="0" y="338328"/>
                  </a:lnTo>
                  <a:lnTo>
                    <a:pt x="0" y="112775"/>
                  </a:lnTo>
                  <a:close/>
                </a:path>
              </a:pathLst>
            </a:custGeom>
            <a:noFill/>
            <a:ln w="26424">
              <a:solidFill>
                <a:srgbClr val="6b76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4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00" strike="noStrike">
                <a:solidFill>
                  <a:srgbClr val="d2523b"/>
                </a:solidFill>
                <a:latin typeface="Arial"/>
              </a:rPr>
              <a:t>final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: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object 9"/>
          <p:cNvSpPr/>
          <p:nvPr/>
        </p:nvSpPr>
        <p:spPr>
          <a:xfrm>
            <a:off x="536040" y="1359360"/>
            <a:ext cx="2849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limites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object 10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18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object 11"/>
          <p:cNvSpPr/>
          <p:nvPr/>
        </p:nvSpPr>
        <p:spPr>
          <a:xfrm>
            <a:off x="3499200" y="3273840"/>
            <a:ext cx="4158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fr-FR" sz="1800" spc="-26" strike="noStrike">
                <a:solidFill>
                  <a:srgbClr val="ffffff"/>
                </a:solidFill>
                <a:latin typeface="Arial"/>
                <a:ea typeface="DejaVu Sans"/>
              </a:rPr>
              <a:t>exp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Intérêt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du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20" strike="noStrike">
                <a:solidFill>
                  <a:srgbClr val="d2523b"/>
                </a:solidFill>
                <a:latin typeface="Arial"/>
              </a:rPr>
              <a:t>ENERGY</a:t>
            </a:r>
            <a:r>
              <a:rPr b="0" lang="fr-FR" sz="4000" spc="-23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85" strike="noStrike">
                <a:solidFill>
                  <a:srgbClr val="d2523b"/>
                </a:solidFill>
                <a:latin typeface="Arial"/>
              </a:rPr>
              <a:t>STAR</a:t>
            </a:r>
            <a:r>
              <a:rPr b="0" lang="fr-FR" sz="4000" spc="-16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2" strike="noStrike">
                <a:solidFill>
                  <a:srgbClr val="d2523b"/>
                </a:solidFill>
                <a:latin typeface="Arial"/>
              </a:rPr>
              <a:t>Score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536040" y="1359360"/>
            <a:ext cx="8017920" cy="390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Feature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traitée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part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du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modèle initial (moins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données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disponibles)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Entraînement</a:t>
            </a:r>
            <a:r>
              <a:rPr b="0" lang="fr-FR" sz="2400" spc="-4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d’un modèle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Random Forest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Regressor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(grid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search 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CV)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ct val="100000"/>
              </a:lnSpc>
              <a:spcBef>
                <a:spcPts val="581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RMSE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obtenue sur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jeu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de test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: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0">
              <a:lnSpc>
                <a:spcPct val="100000"/>
              </a:lnSpc>
              <a:spcBef>
                <a:spcPts val="581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Arbitrage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réaliser</a:t>
            </a:r>
            <a:r>
              <a:rPr b="0" lang="fr-FR" sz="2400" spc="4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fastidieux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0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calculer</a:t>
            </a:r>
            <a:r>
              <a:rPr b="0" lang="fr-FR" sz="20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/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</a:rPr>
              <a:t> complexité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7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améliore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la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performance</a:t>
            </a:r>
            <a:r>
              <a:rPr b="0" lang="fr-FR" sz="2000" spc="-6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</a:rPr>
              <a:t>faiblement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object 4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19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36040" y="52632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20" strike="noStrike">
                <a:solidFill>
                  <a:srgbClr val="d2523b"/>
                </a:solidFill>
                <a:latin typeface="Arial"/>
              </a:rPr>
              <a:t>Complément</a:t>
            </a:r>
            <a:r>
              <a:rPr b="0" lang="fr-FR" sz="4000" spc="-15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8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5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5" strike="noStrike">
                <a:solidFill>
                  <a:srgbClr val="d2523b"/>
                </a:solidFill>
                <a:latin typeface="Arial"/>
              </a:rPr>
              <a:t>d’ensemble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object 3"/>
          <p:cNvSpPr/>
          <p:nvPr/>
        </p:nvSpPr>
        <p:spPr>
          <a:xfrm>
            <a:off x="536040" y="1359360"/>
            <a:ext cx="46465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Entrainement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d’un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Ridge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object 4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20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7" name="object 5"/>
          <p:cNvGrpSpPr/>
          <p:nvPr/>
        </p:nvGrpSpPr>
        <p:grpSpPr>
          <a:xfrm>
            <a:off x="5990040" y="3270600"/>
            <a:ext cx="512280" cy="884880"/>
            <a:chOff x="5990040" y="3270600"/>
            <a:chExt cx="512280" cy="884880"/>
          </a:xfrm>
        </p:grpSpPr>
        <p:pic>
          <p:nvPicPr>
            <p:cNvPr id="338" name="object 6" descr=""/>
            <p:cNvPicPr/>
            <p:nvPr/>
          </p:nvPicPr>
          <p:blipFill>
            <a:blip r:embed="rId1"/>
            <a:stretch/>
          </p:blipFill>
          <p:spPr>
            <a:xfrm>
              <a:off x="6305760" y="3613320"/>
              <a:ext cx="196560" cy="196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9" name="object 7" descr=""/>
            <p:cNvPicPr/>
            <p:nvPr/>
          </p:nvPicPr>
          <p:blipFill>
            <a:blip r:embed="rId2"/>
            <a:stretch/>
          </p:blipFill>
          <p:spPr>
            <a:xfrm>
              <a:off x="5990040" y="3613320"/>
              <a:ext cx="196560" cy="19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40" name="object 8"/>
            <p:cNvSpPr/>
            <p:nvPr/>
          </p:nvSpPr>
          <p:spPr>
            <a:xfrm>
              <a:off x="6037920" y="327060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96"/>
                  </a:lnTo>
                  <a:lnTo>
                    <a:pt x="25257" y="25320"/>
                  </a:lnTo>
                  <a:lnTo>
                    <a:pt x="6776" y="52774"/>
                  </a:lnTo>
                  <a:lnTo>
                    <a:pt x="0" y="86360"/>
                  </a:lnTo>
                  <a:lnTo>
                    <a:pt x="6776" y="119925"/>
                  </a:lnTo>
                  <a:lnTo>
                    <a:pt x="25257" y="147335"/>
                  </a:lnTo>
                  <a:lnTo>
                    <a:pt x="52667" y="165816"/>
                  </a:lnTo>
                  <a:lnTo>
                    <a:pt x="86233" y="172593"/>
                  </a:lnTo>
                  <a:lnTo>
                    <a:pt x="119872" y="165816"/>
                  </a:lnTo>
                  <a:lnTo>
                    <a:pt x="147319" y="147335"/>
                  </a:lnTo>
                  <a:lnTo>
                    <a:pt x="165814" y="119925"/>
                  </a:lnTo>
                  <a:lnTo>
                    <a:pt x="172592" y="86360"/>
                  </a:lnTo>
                  <a:lnTo>
                    <a:pt x="165814" y="52774"/>
                  </a:lnTo>
                  <a:lnTo>
                    <a:pt x="147320" y="25320"/>
                  </a:lnTo>
                  <a:lnTo>
                    <a:pt x="119872" y="679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1" name="object 9"/>
            <p:cNvSpPr/>
            <p:nvPr/>
          </p:nvSpPr>
          <p:spPr>
            <a:xfrm>
              <a:off x="6037920" y="327060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360"/>
                  </a:moveTo>
                  <a:lnTo>
                    <a:pt x="6776" y="52774"/>
                  </a:lnTo>
                  <a:lnTo>
                    <a:pt x="25257" y="25320"/>
                  </a:lnTo>
                  <a:lnTo>
                    <a:pt x="52667" y="6796"/>
                  </a:lnTo>
                  <a:lnTo>
                    <a:pt x="86233" y="0"/>
                  </a:lnTo>
                  <a:lnTo>
                    <a:pt x="119872" y="6796"/>
                  </a:lnTo>
                  <a:lnTo>
                    <a:pt x="147320" y="25320"/>
                  </a:lnTo>
                  <a:lnTo>
                    <a:pt x="165814" y="52774"/>
                  </a:lnTo>
                  <a:lnTo>
                    <a:pt x="172592" y="86360"/>
                  </a:lnTo>
                  <a:lnTo>
                    <a:pt x="165814" y="119925"/>
                  </a:lnTo>
                  <a:lnTo>
                    <a:pt x="147319" y="147335"/>
                  </a:lnTo>
                  <a:lnTo>
                    <a:pt x="119872" y="165816"/>
                  </a:lnTo>
                  <a:lnTo>
                    <a:pt x="86233" y="172593"/>
                  </a:lnTo>
                  <a:lnTo>
                    <a:pt x="52667" y="165816"/>
                  </a:lnTo>
                  <a:lnTo>
                    <a:pt x="25257" y="147335"/>
                  </a:lnTo>
                  <a:lnTo>
                    <a:pt x="6776" y="119925"/>
                  </a:lnTo>
                  <a:lnTo>
                    <a:pt x="0" y="86360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2" name="object 10"/>
            <p:cNvSpPr/>
            <p:nvPr/>
          </p:nvSpPr>
          <p:spPr>
            <a:xfrm>
              <a:off x="6192360" y="342540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76"/>
                  </a:lnTo>
                  <a:lnTo>
                    <a:pt x="25257" y="25257"/>
                  </a:lnTo>
                  <a:lnTo>
                    <a:pt x="6776" y="52667"/>
                  </a:lnTo>
                  <a:lnTo>
                    <a:pt x="0" y="86232"/>
                  </a:lnTo>
                  <a:lnTo>
                    <a:pt x="6776" y="119798"/>
                  </a:lnTo>
                  <a:lnTo>
                    <a:pt x="25257" y="147208"/>
                  </a:lnTo>
                  <a:lnTo>
                    <a:pt x="52667" y="165689"/>
                  </a:lnTo>
                  <a:lnTo>
                    <a:pt x="86233" y="172465"/>
                  </a:lnTo>
                  <a:lnTo>
                    <a:pt x="119798" y="165689"/>
                  </a:lnTo>
                  <a:lnTo>
                    <a:pt x="147208" y="147208"/>
                  </a:lnTo>
                  <a:lnTo>
                    <a:pt x="165689" y="119798"/>
                  </a:lnTo>
                  <a:lnTo>
                    <a:pt x="172466" y="86232"/>
                  </a:lnTo>
                  <a:lnTo>
                    <a:pt x="165689" y="52667"/>
                  </a:lnTo>
                  <a:lnTo>
                    <a:pt x="147208" y="25257"/>
                  </a:lnTo>
                  <a:lnTo>
                    <a:pt x="119798" y="677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3" name="object 11"/>
            <p:cNvSpPr/>
            <p:nvPr/>
          </p:nvSpPr>
          <p:spPr>
            <a:xfrm>
              <a:off x="6192360" y="342540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232"/>
                  </a:moveTo>
                  <a:lnTo>
                    <a:pt x="6776" y="52667"/>
                  </a:lnTo>
                  <a:lnTo>
                    <a:pt x="25257" y="25257"/>
                  </a:lnTo>
                  <a:lnTo>
                    <a:pt x="52667" y="6776"/>
                  </a:lnTo>
                  <a:lnTo>
                    <a:pt x="86233" y="0"/>
                  </a:lnTo>
                  <a:lnTo>
                    <a:pt x="119798" y="6776"/>
                  </a:lnTo>
                  <a:lnTo>
                    <a:pt x="147208" y="25257"/>
                  </a:lnTo>
                  <a:lnTo>
                    <a:pt x="165689" y="52667"/>
                  </a:lnTo>
                  <a:lnTo>
                    <a:pt x="172466" y="86232"/>
                  </a:lnTo>
                  <a:lnTo>
                    <a:pt x="165689" y="119798"/>
                  </a:lnTo>
                  <a:lnTo>
                    <a:pt x="147208" y="147208"/>
                  </a:lnTo>
                  <a:lnTo>
                    <a:pt x="119798" y="165689"/>
                  </a:lnTo>
                  <a:lnTo>
                    <a:pt x="86233" y="172465"/>
                  </a:lnTo>
                  <a:lnTo>
                    <a:pt x="52667" y="165689"/>
                  </a:lnTo>
                  <a:lnTo>
                    <a:pt x="25257" y="147208"/>
                  </a:lnTo>
                  <a:lnTo>
                    <a:pt x="6776" y="119798"/>
                  </a:lnTo>
                  <a:lnTo>
                    <a:pt x="0" y="86232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4" name="object 12"/>
            <p:cNvSpPr/>
            <p:nvPr/>
          </p:nvSpPr>
          <p:spPr>
            <a:xfrm>
              <a:off x="6037920" y="398484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96"/>
                  </a:lnTo>
                  <a:lnTo>
                    <a:pt x="25257" y="25320"/>
                  </a:lnTo>
                  <a:lnTo>
                    <a:pt x="6776" y="52774"/>
                  </a:lnTo>
                  <a:lnTo>
                    <a:pt x="0" y="86360"/>
                  </a:lnTo>
                  <a:lnTo>
                    <a:pt x="6776" y="119925"/>
                  </a:lnTo>
                  <a:lnTo>
                    <a:pt x="25257" y="147335"/>
                  </a:lnTo>
                  <a:lnTo>
                    <a:pt x="52667" y="165816"/>
                  </a:lnTo>
                  <a:lnTo>
                    <a:pt x="86233" y="172593"/>
                  </a:lnTo>
                  <a:lnTo>
                    <a:pt x="119872" y="165816"/>
                  </a:lnTo>
                  <a:lnTo>
                    <a:pt x="147319" y="147335"/>
                  </a:lnTo>
                  <a:lnTo>
                    <a:pt x="165814" y="119925"/>
                  </a:lnTo>
                  <a:lnTo>
                    <a:pt x="172592" y="86360"/>
                  </a:lnTo>
                  <a:lnTo>
                    <a:pt x="165814" y="52774"/>
                  </a:lnTo>
                  <a:lnTo>
                    <a:pt x="147320" y="25320"/>
                  </a:lnTo>
                  <a:lnTo>
                    <a:pt x="119872" y="679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5" name="object 13"/>
            <p:cNvSpPr/>
            <p:nvPr/>
          </p:nvSpPr>
          <p:spPr>
            <a:xfrm>
              <a:off x="6037920" y="398484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360"/>
                  </a:moveTo>
                  <a:lnTo>
                    <a:pt x="6776" y="52774"/>
                  </a:lnTo>
                  <a:lnTo>
                    <a:pt x="25257" y="25320"/>
                  </a:lnTo>
                  <a:lnTo>
                    <a:pt x="52667" y="6796"/>
                  </a:lnTo>
                  <a:lnTo>
                    <a:pt x="86233" y="0"/>
                  </a:lnTo>
                  <a:lnTo>
                    <a:pt x="119872" y="6796"/>
                  </a:lnTo>
                  <a:lnTo>
                    <a:pt x="147320" y="25320"/>
                  </a:lnTo>
                  <a:lnTo>
                    <a:pt x="165814" y="52774"/>
                  </a:lnTo>
                  <a:lnTo>
                    <a:pt x="172592" y="86360"/>
                  </a:lnTo>
                  <a:lnTo>
                    <a:pt x="165814" y="119925"/>
                  </a:lnTo>
                  <a:lnTo>
                    <a:pt x="147319" y="147335"/>
                  </a:lnTo>
                  <a:lnTo>
                    <a:pt x="119872" y="165816"/>
                  </a:lnTo>
                  <a:lnTo>
                    <a:pt x="86233" y="172593"/>
                  </a:lnTo>
                  <a:lnTo>
                    <a:pt x="52667" y="165816"/>
                  </a:lnTo>
                  <a:lnTo>
                    <a:pt x="25257" y="147335"/>
                  </a:lnTo>
                  <a:lnTo>
                    <a:pt x="6776" y="119925"/>
                  </a:lnTo>
                  <a:lnTo>
                    <a:pt x="0" y="86360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" name="object 14"/>
            <p:cNvSpPr/>
            <p:nvPr/>
          </p:nvSpPr>
          <p:spPr>
            <a:xfrm>
              <a:off x="6202080" y="383112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360" y="0"/>
                  </a:moveTo>
                  <a:lnTo>
                    <a:pt x="52774" y="6776"/>
                  </a:lnTo>
                  <a:lnTo>
                    <a:pt x="25320" y="25257"/>
                  </a:lnTo>
                  <a:lnTo>
                    <a:pt x="6796" y="52667"/>
                  </a:lnTo>
                  <a:lnTo>
                    <a:pt x="0" y="86233"/>
                  </a:lnTo>
                  <a:lnTo>
                    <a:pt x="6796" y="119798"/>
                  </a:lnTo>
                  <a:lnTo>
                    <a:pt x="25320" y="147208"/>
                  </a:lnTo>
                  <a:lnTo>
                    <a:pt x="52774" y="165689"/>
                  </a:lnTo>
                  <a:lnTo>
                    <a:pt x="86360" y="172466"/>
                  </a:lnTo>
                  <a:lnTo>
                    <a:pt x="119925" y="165689"/>
                  </a:lnTo>
                  <a:lnTo>
                    <a:pt x="147335" y="147208"/>
                  </a:lnTo>
                  <a:lnTo>
                    <a:pt x="165816" y="119798"/>
                  </a:lnTo>
                  <a:lnTo>
                    <a:pt x="172593" y="86233"/>
                  </a:lnTo>
                  <a:lnTo>
                    <a:pt x="165816" y="52667"/>
                  </a:lnTo>
                  <a:lnTo>
                    <a:pt x="147335" y="25257"/>
                  </a:lnTo>
                  <a:lnTo>
                    <a:pt x="119925" y="6776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7" name="object 15"/>
            <p:cNvSpPr/>
            <p:nvPr/>
          </p:nvSpPr>
          <p:spPr>
            <a:xfrm>
              <a:off x="6202080" y="383112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233"/>
                  </a:moveTo>
                  <a:lnTo>
                    <a:pt x="6796" y="52667"/>
                  </a:lnTo>
                  <a:lnTo>
                    <a:pt x="25320" y="25257"/>
                  </a:lnTo>
                  <a:lnTo>
                    <a:pt x="52774" y="6776"/>
                  </a:lnTo>
                  <a:lnTo>
                    <a:pt x="86360" y="0"/>
                  </a:lnTo>
                  <a:lnTo>
                    <a:pt x="119925" y="6776"/>
                  </a:lnTo>
                  <a:lnTo>
                    <a:pt x="147335" y="25257"/>
                  </a:lnTo>
                  <a:lnTo>
                    <a:pt x="165816" y="52667"/>
                  </a:lnTo>
                  <a:lnTo>
                    <a:pt x="172593" y="86233"/>
                  </a:lnTo>
                  <a:lnTo>
                    <a:pt x="165816" y="119798"/>
                  </a:lnTo>
                  <a:lnTo>
                    <a:pt x="147335" y="147208"/>
                  </a:lnTo>
                  <a:lnTo>
                    <a:pt x="119925" y="165689"/>
                  </a:lnTo>
                  <a:lnTo>
                    <a:pt x="86360" y="172466"/>
                  </a:lnTo>
                  <a:lnTo>
                    <a:pt x="52774" y="165689"/>
                  </a:lnTo>
                  <a:lnTo>
                    <a:pt x="25320" y="147208"/>
                  </a:lnTo>
                  <a:lnTo>
                    <a:pt x="6796" y="119798"/>
                  </a:lnTo>
                  <a:lnTo>
                    <a:pt x="0" y="86233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pic>
        <p:nvPicPr>
          <p:cNvPr id="348" name="object 16" descr=""/>
          <p:cNvPicPr/>
          <p:nvPr/>
        </p:nvPicPr>
        <p:blipFill>
          <a:blip r:embed="rId3"/>
          <a:stretch/>
        </p:blipFill>
        <p:spPr>
          <a:xfrm>
            <a:off x="5675040" y="361332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49" name="object 17" descr=""/>
          <p:cNvPicPr/>
          <p:nvPr/>
        </p:nvPicPr>
        <p:blipFill>
          <a:blip r:embed="rId4"/>
          <a:stretch/>
        </p:blipFill>
        <p:spPr>
          <a:xfrm>
            <a:off x="5359320" y="361332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50" name="object 18" descr=""/>
          <p:cNvPicPr/>
          <p:nvPr/>
        </p:nvPicPr>
        <p:blipFill>
          <a:blip r:embed="rId5"/>
          <a:stretch/>
        </p:blipFill>
        <p:spPr>
          <a:xfrm>
            <a:off x="5043240" y="3613320"/>
            <a:ext cx="196920" cy="196560"/>
          </a:xfrm>
          <a:prstGeom prst="rect">
            <a:avLst/>
          </a:prstGeom>
          <a:ln w="0">
            <a:noFill/>
          </a:ln>
        </p:spPr>
      </p:pic>
      <p:grpSp>
        <p:nvGrpSpPr>
          <p:cNvPr id="351" name="object 19"/>
          <p:cNvGrpSpPr/>
          <p:nvPr/>
        </p:nvGrpSpPr>
        <p:grpSpPr>
          <a:xfrm>
            <a:off x="4568760" y="3540240"/>
            <a:ext cx="343440" cy="342720"/>
            <a:chOff x="4568760" y="3540240"/>
            <a:chExt cx="343440" cy="342720"/>
          </a:xfrm>
        </p:grpSpPr>
        <p:sp>
          <p:nvSpPr>
            <p:cNvPr id="352" name="object 20"/>
            <p:cNvSpPr/>
            <p:nvPr/>
          </p:nvSpPr>
          <p:spPr>
            <a:xfrm>
              <a:off x="4568760" y="354024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592" y="0"/>
                  </a:moveTo>
                  <a:lnTo>
                    <a:pt x="126691" y="6151"/>
                  </a:lnTo>
                  <a:lnTo>
                    <a:pt x="85456" y="23513"/>
                  </a:lnTo>
                  <a:lnTo>
                    <a:pt x="50530" y="50450"/>
                  </a:lnTo>
                  <a:lnTo>
                    <a:pt x="23551" y="85325"/>
                  </a:lnTo>
                  <a:lnTo>
                    <a:pt x="6161" y="126500"/>
                  </a:lnTo>
                  <a:lnTo>
                    <a:pt x="0" y="172339"/>
                  </a:lnTo>
                  <a:lnTo>
                    <a:pt x="6161" y="218133"/>
                  </a:lnTo>
                  <a:lnTo>
                    <a:pt x="23551" y="259296"/>
                  </a:lnTo>
                  <a:lnTo>
                    <a:pt x="50530" y="294179"/>
                  </a:lnTo>
                  <a:lnTo>
                    <a:pt x="85456" y="321135"/>
                  </a:lnTo>
                  <a:lnTo>
                    <a:pt x="126691" y="338517"/>
                  </a:lnTo>
                  <a:lnTo>
                    <a:pt x="172592" y="344678"/>
                  </a:lnTo>
                  <a:lnTo>
                    <a:pt x="218441" y="338517"/>
                  </a:lnTo>
                  <a:lnTo>
                    <a:pt x="259639" y="321135"/>
                  </a:lnTo>
                  <a:lnTo>
                    <a:pt x="294544" y="294179"/>
                  </a:lnTo>
                  <a:lnTo>
                    <a:pt x="321512" y="259296"/>
                  </a:lnTo>
                  <a:lnTo>
                    <a:pt x="338898" y="218133"/>
                  </a:lnTo>
                  <a:lnTo>
                    <a:pt x="345059" y="172339"/>
                  </a:lnTo>
                  <a:lnTo>
                    <a:pt x="338898" y="126500"/>
                  </a:lnTo>
                  <a:lnTo>
                    <a:pt x="321512" y="85325"/>
                  </a:lnTo>
                  <a:lnTo>
                    <a:pt x="294544" y="50450"/>
                  </a:lnTo>
                  <a:lnTo>
                    <a:pt x="259639" y="23513"/>
                  </a:lnTo>
                  <a:lnTo>
                    <a:pt x="218441" y="6151"/>
                  </a:lnTo>
                  <a:lnTo>
                    <a:pt x="17259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3" name="object 21"/>
            <p:cNvSpPr/>
            <p:nvPr/>
          </p:nvSpPr>
          <p:spPr>
            <a:xfrm>
              <a:off x="4568760" y="354024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39"/>
                  </a:moveTo>
                  <a:lnTo>
                    <a:pt x="6161" y="126500"/>
                  </a:lnTo>
                  <a:lnTo>
                    <a:pt x="23551" y="85325"/>
                  </a:lnTo>
                  <a:lnTo>
                    <a:pt x="50530" y="50450"/>
                  </a:lnTo>
                  <a:lnTo>
                    <a:pt x="85456" y="23513"/>
                  </a:lnTo>
                  <a:lnTo>
                    <a:pt x="126691" y="6151"/>
                  </a:lnTo>
                  <a:lnTo>
                    <a:pt x="172592" y="0"/>
                  </a:lnTo>
                  <a:lnTo>
                    <a:pt x="218441" y="6151"/>
                  </a:lnTo>
                  <a:lnTo>
                    <a:pt x="259639" y="23513"/>
                  </a:lnTo>
                  <a:lnTo>
                    <a:pt x="294544" y="50450"/>
                  </a:lnTo>
                  <a:lnTo>
                    <a:pt x="321512" y="85325"/>
                  </a:lnTo>
                  <a:lnTo>
                    <a:pt x="338898" y="126500"/>
                  </a:lnTo>
                  <a:lnTo>
                    <a:pt x="345059" y="172339"/>
                  </a:lnTo>
                  <a:lnTo>
                    <a:pt x="338898" y="218133"/>
                  </a:lnTo>
                  <a:lnTo>
                    <a:pt x="321512" y="259296"/>
                  </a:lnTo>
                  <a:lnTo>
                    <a:pt x="294544" y="294179"/>
                  </a:lnTo>
                  <a:lnTo>
                    <a:pt x="259639" y="321135"/>
                  </a:lnTo>
                  <a:lnTo>
                    <a:pt x="218441" y="338517"/>
                  </a:lnTo>
                  <a:lnTo>
                    <a:pt x="172592" y="344678"/>
                  </a:lnTo>
                  <a:lnTo>
                    <a:pt x="126691" y="338517"/>
                  </a:lnTo>
                  <a:lnTo>
                    <a:pt x="85456" y="321135"/>
                  </a:lnTo>
                  <a:lnTo>
                    <a:pt x="50530" y="294179"/>
                  </a:lnTo>
                  <a:lnTo>
                    <a:pt x="23551" y="259296"/>
                  </a:lnTo>
                  <a:lnTo>
                    <a:pt x="6161" y="218133"/>
                  </a:lnTo>
                  <a:lnTo>
                    <a:pt x="0" y="172339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54" name="object 22"/>
          <p:cNvGrpSpPr/>
          <p:nvPr/>
        </p:nvGrpSpPr>
        <p:grpSpPr>
          <a:xfrm>
            <a:off x="2694240" y="2837160"/>
            <a:ext cx="1742760" cy="1742760"/>
            <a:chOff x="2694240" y="2837160"/>
            <a:chExt cx="1742760" cy="1742760"/>
          </a:xfrm>
        </p:grpSpPr>
        <p:sp>
          <p:nvSpPr>
            <p:cNvPr id="355" name="object 23"/>
            <p:cNvSpPr/>
            <p:nvPr/>
          </p:nvSpPr>
          <p:spPr>
            <a:xfrm>
              <a:off x="2694240" y="2837160"/>
              <a:ext cx="1742760" cy="1742760"/>
            </a:xfrm>
            <a:custGeom>
              <a:avLst/>
              <a:gdLst>
                <a:gd name="textAreaLeft" fmla="*/ 0 w 1742760"/>
                <a:gd name="textAreaRight" fmla="*/ 1744920 w 174276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1744979" h="1744979">
                  <a:moveTo>
                    <a:pt x="872362" y="0"/>
                  </a:moveTo>
                  <a:lnTo>
                    <a:pt x="824506" y="1290"/>
                  </a:lnTo>
                  <a:lnTo>
                    <a:pt x="777323" y="5118"/>
                  </a:lnTo>
                  <a:lnTo>
                    <a:pt x="730881" y="11416"/>
                  </a:lnTo>
                  <a:lnTo>
                    <a:pt x="685245" y="20118"/>
                  </a:lnTo>
                  <a:lnTo>
                    <a:pt x="640482" y="31158"/>
                  </a:lnTo>
                  <a:lnTo>
                    <a:pt x="596660" y="44469"/>
                  </a:lnTo>
                  <a:lnTo>
                    <a:pt x="553844" y="59984"/>
                  </a:lnTo>
                  <a:lnTo>
                    <a:pt x="512101" y="77638"/>
                  </a:lnTo>
                  <a:lnTo>
                    <a:pt x="471498" y="97363"/>
                  </a:lnTo>
                  <a:lnTo>
                    <a:pt x="432101" y="119093"/>
                  </a:lnTo>
                  <a:lnTo>
                    <a:pt x="393976" y="142761"/>
                  </a:lnTo>
                  <a:lnTo>
                    <a:pt x="357192" y="168302"/>
                  </a:lnTo>
                  <a:lnTo>
                    <a:pt x="321813" y="195648"/>
                  </a:lnTo>
                  <a:lnTo>
                    <a:pt x="287907" y="224734"/>
                  </a:lnTo>
                  <a:lnTo>
                    <a:pt x="255539" y="255492"/>
                  </a:lnTo>
                  <a:lnTo>
                    <a:pt x="224778" y="287856"/>
                  </a:lnTo>
                  <a:lnTo>
                    <a:pt x="195689" y="321760"/>
                  </a:lnTo>
                  <a:lnTo>
                    <a:pt x="168339" y="357137"/>
                  </a:lnTo>
                  <a:lnTo>
                    <a:pt x="142794" y="393920"/>
                  </a:lnTo>
                  <a:lnTo>
                    <a:pt x="119121" y="432044"/>
                  </a:lnTo>
                  <a:lnTo>
                    <a:pt x="97387" y="471442"/>
                  </a:lnTo>
                  <a:lnTo>
                    <a:pt x="77657" y="512046"/>
                  </a:lnTo>
                  <a:lnTo>
                    <a:pt x="60000" y="553791"/>
                  </a:lnTo>
                  <a:lnTo>
                    <a:pt x="44481" y="596611"/>
                  </a:lnTo>
                  <a:lnTo>
                    <a:pt x="31167" y="640438"/>
                  </a:lnTo>
                  <a:lnTo>
                    <a:pt x="20124" y="685207"/>
                  </a:lnTo>
                  <a:lnTo>
                    <a:pt x="11419" y="730850"/>
                  </a:lnTo>
                  <a:lnTo>
                    <a:pt x="5119" y="777301"/>
                  </a:lnTo>
                  <a:lnTo>
                    <a:pt x="1291" y="824494"/>
                  </a:lnTo>
                  <a:lnTo>
                    <a:pt x="0" y="872363"/>
                  </a:lnTo>
                  <a:lnTo>
                    <a:pt x="1291" y="920231"/>
                  </a:lnTo>
                  <a:lnTo>
                    <a:pt x="5119" y="967425"/>
                  </a:lnTo>
                  <a:lnTo>
                    <a:pt x="11419" y="1013877"/>
                  </a:lnTo>
                  <a:lnTo>
                    <a:pt x="20124" y="1059521"/>
                  </a:lnTo>
                  <a:lnTo>
                    <a:pt x="31167" y="1104291"/>
                  </a:lnTo>
                  <a:lnTo>
                    <a:pt x="44481" y="1148119"/>
                  </a:lnTo>
                  <a:lnTo>
                    <a:pt x="60000" y="1190941"/>
                  </a:lnTo>
                  <a:lnTo>
                    <a:pt x="77657" y="1232688"/>
                  </a:lnTo>
                  <a:lnTo>
                    <a:pt x="97387" y="1273294"/>
                  </a:lnTo>
                  <a:lnTo>
                    <a:pt x="119121" y="1312694"/>
                  </a:lnTo>
                  <a:lnTo>
                    <a:pt x="142794" y="1350820"/>
                  </a:lnTo>
                  <a:lnTo>
                    <a:pt x="168339" y="1387606"/>
                  </a:lnTo>
                  <a:lnTo>
                    <a:pt x="195689" y="1422986"/>
                  </a:lnTo>
                  <a:lnTo>
                    <a:pt x="224778" y="1456892"/>
                  </a:lnTo>
                  <a:lnTo>
                    <a:pt x="255539" y="1489259"/>
                  </a:lnTo>
                  <a:lnTo>
                    <a:pt x="287907" y="1520019"/>
                  </a:lnTo>
                  <a:lnTo>
                    <a:pt x="321813" y="1549107"/>
                  </a:lnTo>
                  <a:lnTo>
                    <a:pt x="357192" y="1576456"/>
                  </a:lnTo>
                  <a:lnTo>
                    <a:pt x="393976" y="1601999"/>
                  </a:lnTo>
                  <a:lnTo>
                    <a:pt x="432101" y="1625670"/>
                  </a:lnTo>
                  <a:lnTo>
                    <a:pt x="471498" y="1647402"/>
                  </a:lnTo>
                  <a:lnTo>
                    <a:pt x="512101" y="1667129"/>
                  </a:lnTo>
                  <a:lnTo>
                    <a:pt x="553844" y="1684785"/>
                  </a:lnTo>
                  <a:lnTo>
                    <a:pt x="596660" y="1700302"/>
                  </a:lnTo>
                  <a:lnTo>
                    <a:pt x="640482" y="1713614"/>
                  </a:lnTo>
                  <a:lnTo>
                    <a:pt x="685245" y="1724655"/>
                  </a:lnTo>
                  <a:lnTo>
                    <a:pt x="730881" y="1733358"/>
                  </a:lnTo>
                  <a:lnTo>
                    <a:pt x="777323" y="1739657"/>
                  </a:lnTo>
                  <a:lnTo>
                    <a:pt x="824506" y="1743485"/>
                  </a:lnTo>
                  <a:lnTo>
                    <a:pt x="872362" y="1744776"/>
                  </a:lnTo>
                  <a:lnTo>
                    <a:pt x="920231" y="1743485"/>
                  </a:lnTo>
                  <a:lnTo>
                    <a:pt x="967424" y="1739657"/>
                  </a:lnTo>
                  <a:lnTo>
                    <a:pt x="1013875" y="1733358"/>
                  </a:lnTo>
                  <a:lnTo>
                    <a:pt x="1059518" y="1724655"/>
                  </a:lnTo>
                  <a:lnTo>
                    <a:pt x="1104287" y="1713614"/>
                  </a:lnTo>
                  <a:lnTo>
                    <a:pt x="1148114" y="1700302"/>
                  </a:lnTo>
                  <a:lnTo>
                    <a:pt x="1190934" y="1684785"/>
                  </a:lnTo>
                  <a:lnTo>
                    <a:pt x="1232679" y="1667129"/>
                  </a:lnTo>
                  <a:lnTo>
                    <a:pt x="1273283" y="1647402"/>
                  </a:lnTo>
                  <a:lnTo>
                    <a:pt x="1312681" y="1625670"/>
                  </a:lnTo>
                  <a:lnTo>
                    <a:pt x="1350805" y="1601999"/>
                  </a:lnTo>
                  <a:lnTo>
                    <a:pt x="1387588" y="1576456"/>
                  </a:lnTo>
                  <a:lnTo>
                    <a:pt x="1422965" y="1549107"/>
                  </a:lnTo>
                  <a:lnTo>
                    <a:pt x="1456869" y="1520019"/>
                  </a:lnTo>
                  <a:lnTo>
                    <a:pt x="1489233" y="1489259"/>
                  </a:lnTo>
                  <a:lnTo>
                    <a:pt x="1519991" y="1456892"/>
                  </a:lnTo>
                  <a:lnTo>
                    <a:pt x="1549077" y="1422986"/>
                  </a:lnTo>
                  <a:lnTo>
                    <a:pt x="1576423" y="1387606"/>
                  </a:lnTo>
                  <a:lnTo>
                    <a:pt x="1601964" y="1350820"/>
                  </a:lnTo>
                  <a:lnTo>
                    <a:pt x="1625632" y="1312694"/>
                  </a:lnTo>
                  <a:lnTo>
                    <a:pt x="1647362" y="1273294"/>
                  </a:lnTo>
                  <a:lnTo>
                    <a:pt x="1667087" y="1232688"/>
                  </a:lnTo>
                  <a:lnTo>
                    <a:pt x="1684741" y="1190941"/>
                  </a:lnTo>
                  <a:lnTo>
                    <a:pt x="1700256" y="1148119"/>
                  </a:lnTo>
                  <a:lnTo>
                    <a:pt x="1713567" y="1104291"/>
                  </a:lnTo>
                  <a:lnTo>
                    <a:pt x="1724607" y="1059521"/>
                  </a:lnTo>
                  <a:lnTo>
                    <a:pt x="1733309" y="1013877"/>
                  </a:lnTo>
                  <a:lnTo>
                    <a:pt x="1739607" y="967425"/>
                  </a:lnTo>
                  <a:lnTo>
                    <a:pt x="1743435" y="920231"/>
                  </a:lnTo>
                  <a:lnTo>
                    <a:pt x="1744725" y="872363"/>
                  </a:lnTo>
                  <a:lnTo>
                    <a:pt x="1743435" y="824494"/>
                  </a:lnTo>
                  <a:lnTo>
                    <a:pt x="1739607" y="777301"/>
                  </a:lnTo>
                  <a:lnTo>
                    <a:pt x="1733309" y="730850"/>
                  </a:lnTo>
                  <a:lnTo>
                    <a:pt x="1724607" y="685207"/>
                  </a:lnTo>
                  <a:lnTo>
                    <a:pt x="1713567" y="640438"/>
                  </a:lnTo>
                  <a:lnTo>
                    <a:pt x="1700256" y="596611"/>
                  </a:lnTo>
                  <a:lnTo>
                    <a:pt x="1684741" y="553791"/>
                  </a:lnTo>
                  <a:lnTo>
                    <a:pt x="1667087" y="512046"/>
                  </a:lnTo>
                  <a:lnTo>
                    <a:pt x="1647362" y="471442"/>
                  </a:lnTo>
                  <a:lnTo>
                    <a:pt x="1625632" y="432044"/>
                  </a:lnTo>
                  <a:lnTo>
                    <a:pt x="1601964" y="393920"/>
                  </a:lnTo>
                  <a:lnTo>
                    <a:pt x="1576423" y="357137"/>
                  </a:lnTo>
                  <a:lnTo>
                    <a:pt x="1549077" y="321760"/>
                  </a:lnTo>
                  <a:lnTo>
                    <a:pt x="1519991" y="287856"/>
                  </a:lnTo>
                  <a:lnTo>
                    <a:pt x="1489233" y="255492"/>
                  </a:lnTo>
                  <a:lnTo>
                    <a:pt x="1456869" y="224734"/>
                  </a:lnTo>
                  <a:lnTo>
                    <a:pt x="1422965" y="195648"/>
                  </a:lnTo>
                  <a:lnTo>
                    <a:pt x="1387588" y="168302"/>
                  </a:lnTo>
                  <a:lnTo>
                    <a:pt x="1350805" y="142761"/>
                  </a:lnTo>
                  <a:lnTo>
                    <a:pt x="1312681" y="119093"/>
                  </a:lnTo>
                  <a:lnTo>
                    <a:pt x="1273283" y="97363"/>
                  </a:lnTo>
                  <a:lnTo>
                    <a:pt x="1232679" y="77638"/>
                  </a:lnTo>
                  <a:lnTo>
                    <a:pt x="1190934" y="59984"/>
                  </a:lnTo>
                  <a:lnTo>
                    <a:pt x="1148114" y="44469"/>
                  </a:lnTo>
                  <a:lnTo>
                    <a:pt x="1104287" y="31158"/>
                  </a:lnTo>
                  <a:lnTo>
                    <a:pt x="1059518" y="20118"/>
                  </a:lnTo>
                  <a:lnTo>
                    <a:pt x="1013875" y="11416"/>
                  </a:lnTo>
                  <a:lnTo>
                    <a:pt x="967424" y="5118"/>
                  </a:lnTo>
                  <a:lnTo>
                    <a:pt x="920231" y="1290"/>
                  </a:lnTo>
                  <a:lnTo>
                    <a:pt x="87236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6" name="object 24"/>
            <p:cNvSpPr/>
            <p:nvPr/>
          </p:nvSpPr>
          <p:spPr>
            <a:xfrm>
              <a:off x="2694240" y="2837160"/>
              <a:ext cx="1742760" cy="1742760"/>
            </a:xfrm>
            <a:custGeom>
              <a:avLst/>
              <a:gdLst>
                <a:gd name="textAreaLeft" fmla="*/ 0 w 1742760"/>
                <a:gd name="textAreaRight" fmla="*/ 1744920 w 174276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1744979" h="1744979">
                  <a:moveTo>
                    <a:pt x="0" y="872363"/>
                  </a:moveTo>
                  <a:lnTo>
                    <a:pt x="1291" y="824494"/>
                  </a:lnTo>
                  <a:lnTo>
                    <a:pt x="5119" y="777301"/>
                  </a:lnTo>
                  <a:lnTo>
                    <a:pt x="11419" y="730850"/>
                  </a:lnTo>
                  <a:lnTo>
                    <a:pt x="20124" y="685207"/>
                  </a:lnTo>
                  <a:lnTo>
                    <a:pt x="31167" y="640438"/>
                  </a:lnTo>
                  <a:lnTo>
                    <a:pt x="44481" y="596611"/>
                  </a:lnTo>
                  <a:lnTo>
                    <a:pt x="60000" y="553791"/>
                  </a:lnTo>
                  <a:lnTo>
                    <a:pt x="77657" y="512046"/>
                  </a:lnTo>
                  <a:lnTo>
                    <a:pt x="97387" y="471442"/>
                  </a:lnTo>
                  <a:lnTo>
                    <a:pt x="119121" y="432044"/>
                  </a:lnTo>
                  <a:lnTo>
                    <a:pt x="142794" y="393920"/>
                  </a:lnTo>
                  <a:lnTo>
                    <a:pt x="168339" y="357137"/>
                  </a:lnTo>
                  <a:lnTo>
                    <a:pt x="195689" y="321760"/>
                  </a:lnTo>
                  <a:lnTo>
                    <a:pt x="224778" y="287856"/>
                  </a:lnTo>
                  <a:lnTo>
                    <a:pt x="255539" y="255492"/>
                  </a:lnTo>
                  <a:lnTo>
                    <a:pt x="287907" y="224734"/>
                  </a:lnTo>
                  <a:lnTo>
                    <a:pt x="321813" y="195648"/>
                  </a:lnTo>
                  <a:lnTo>
                    <a:pt x="357192" y="168302"/>
                  </a:lnTo>
                  <a:lnTo>
                    <a:pt x="393976" y="142761"/>
                  </a:lnTo>
                  <a:lnTo>
                    <a:pt x="432101" y="119093"/>
                  </a:lnTo>
                  <a:lnTo>
                    <a:pt x="471498" y="97363"/>
                  </a:lnTo>
                  <a:lnTo>
                    <a:pt x="512101" y="77638"/>
                  </a:lnTo>
                  <a:lnTo>
                    <a:pt x="553844" y="59984"/>
                  </a:lnTo>
                  <a:lnTo>
                    <a:pt x="596660" y="44469"/>
                  </a:lnTo>
                  <a:lnTo>
                    <a:pt x="640482" y="31158"/>
                  </a:lnTo>
                  <a:lnTo>
                    <a:pt x="685245" y="20118"/>
                  </a:lnTo>
                  <a:lnTo>
                    <a:pt x="730881" y="11416"/>
                  </a:lnTo>
                  <a:lnTo>
                    <a:pt x="777323" y="5118"/>
                  </a:lnTo>
                  <a:lnTo>
                    <a:pt x="824506" y="1290"/>
                  </a:lnTo>
                  <a:lnTo>
                    <a:pt x="872362" y="0"/>
                  </a:lnTo>
                  <a:lnTo>
                    <a:pt x="920231" y="1290"/>
                  </a:lnTo>
                  <a:lnTo>
                    <a:pt x="967424" y="5118"/>
                  </a:lnTo>
                  <a:lnTo>
                    <a:pt x="1013875" y="11416"/>
                  </a:lnTo>
                  <a:lnTo>
                    <a:pt x="1059518" y="20118"/>
                  </a:lnTo>
                  <a:lnTo>
                    <a:pt x="1104287" y="31158"/>
                  </a:lnTo>
                  <a:lnTo>
                    <a:pt x="1148114" y="44469"/>
                  </a:lnTo>
                  <a:lnTo>
                    <a:pt x="1190934" y="59984"/>
                  </a:lnTo>
                  <a:lnTo>
                    <a:pt x="1232679" y="77638"/>
                  </a:lnTo>
                  <a:lnTo>
                    <a:pt x="1273283" y="97363"/>
                  </a:lnTo>
                  <a:lnTo>
                    <a:pt x="1312681" y="119093"/>
                  </a:lnTo>
                  <a:lnTo>
                    <a:pt x="1350805" y="142761"/>
                  </a:lnTo>
                  <a:lnTo>
                    <a:pt x="1387588" y="168302"/>
                  </a:lnTo>
                  <a:lnTo>
                    <a:pt x="1422965" y="195648"/>
                  </a:lnTo>
                  <a:lnTo>
                    <a:pt x="1456869" y="224734"/>
                  </a:lnTo>
                  <a:lnTo>
                    <a:pt x="1489233" y="255492"/>
                  </a:lnTo>
                  <a:lnTo>
                    <a:pt x="1519991" y="287856"/>
                  </a:lnTo>
                  <a:lnTo>
                    <a:pt x="1549077" y="321760"/>
                  </a:lnTo>
                  <a:lnTo>
                    <a:pt x="1576423" y="357137"/>
                  </a:lnTo>
                  <a:lnTo>
                    <a:pt x="1601964" y="393920"/>
                  </a:lnTo>
                  <a:lnTo>
                    <a:pt x="1625632" y="432044"/>
                  </a:lnTo>
                  <a:lnTo>
                    <a:pt x="1647362" y="471442"/>
                  </a:lnTo>
                  <a:lnTo>
                    <a:pt x="1667087" y="512046"/>
                  </a:lnTo>
                  <a:lnTo>
                    <a:pt x="1684741" y="553791"/>
                  </a:lnTo>
                  <a:lnTo>
                    <a:pt x="1700256" y="596611"/>
                  </a:lnTo>
                  <a:lnTo>
                    <a:pt x="1713567" y="640438"/>
                  </a:lnTo>
                  <a:lnTo>
                    <a:pt x="1724607" y="685207"/>
                  </a:lnTo>
                  <a:lnTo>
                    <a:pt x="1733309" y="730850"/>
                  </a:lnTo>
                  <a:lnTo>
                    <a:pt x="1739607" y="777301"/>
                  </a:lnTo>
                  <a:lnTo>
                    <a:pt x="1743435" y="824494"/>
                  </a:lnTo>
                  <a:lnTo>
                    <a:pt x="1744725" y="872363"/>
                  </a:lnTo>
                  <a:lnTo>
                    <a:pt x="1743435" y="920231"/>
                  </a:lnTo>
                  <a:lnTo>
                    <a:pt x="1739607" y="967425"/>
                  </a:lnTo>
                  <a:lnTo>
                    <a:pt x="1733309" y="1013877"/>
                  </a:lnTo>
                  <a:lnTo>
                    <a:pt x="1724607" y="1059521"/>
                  </a:lnTo>
                  <a:lnTo>
                    <a:pt x="1713567" y="1104291"/>
                  </a:lnTo>
                  <a:lnTo>
                    <a:pt x="1700256" y="1148119"/>
                  </a:lnTo>
                  <a:lnTo>
                    <a:pt x="1684741" y="1190941"/>
                  </a:lnTo>
                  <a:lnTo>
                    <a:pt x="1667087" y="1232688"/>
                  </a:lnTo>
                  <a:lnTo>
                    <a:pt x="1647362" y="1273294"/>
                  </a:lnTo>
                  <a:lnTo>
                    <a:pt x="1625632" y="1312694"/>
                  </a:lnTo>
                  <a:lnTo>
                    <a:pt x="1601964" y="1350820"/>
                  </a:lnTo>
                  <a:lnTo>
                    <a:pt x="1576423" y="1387606"/>
                  </a:lnTo>
                  <a:lnTo>
                    <a:pt x="1549077" y="1422986"/>
                  </a:lnTo>
                  <a:lnTo>
                    <a:pt x="1519991" y="1456892"/>
                  </a:lnTo>
                  <a:lnTo>
                    <a:pt x="1489233" y="1489259"/>
                  </a:lnTo>
                  <a:lnTo>
                    <a:pt x="1456869" y="1520019"/>
                  </a:lnTo>
                  <a:lnTo>
                    <a:pt x="1422965" y="1549107"/>
                  </a:lnTo>
                  <a:lnTo>
                    <a:pt x="1387588" y="1576456"/>
                  </a:lnTo>
                  <a:lnTo>
                    <a:pt x="1350805" y="1601999"/>
                  </a:lnTo>
                  <a:lnTo>
                    <a:pt x="1312681" y="1625670"/>
                  </a:lnTo>
                  <a:lnTo>
                    <a:pt x="1273283" y="1647402"/>
                  </a:lnTo>
                  <a:lnTo>
                    <a:pt x="1232679" y="1667129"/>
                  </a:lnTo>
                  <a:lnTo>
                    <a:pt x="1190934" y="1684785"/>
                  </a:lnTo>
                  <a:lnTo>
                    <a:pt x="1148114" y="1700302"/>
                  </a:lnTo>
                  <a:lnTo>
                    <a:pt x="1104287" y="1713614"/>
                  </a:lnTo>
                  <a:lnTo>
                    <a:pt x="1059518" y="1724655"/>
                  </a:lnTo>
                  <a:lnTo>
                    <a:pt x="1013875" y="1733358"/>
                  </a:lnTo>
                  <a:lnTo>
                    <a:pt x="967424" y="1739657"/>
                  </a:lnTo>
                  <a:lnTo>
                    <a:pt x="920231" y="1743485"/>
                  </a:lnTo>
                  <a:lnTo>
                    <a:pt x="872362" y="1744776"/>
                  </a:lnTo>
                  <a:lnTo>
                    <a:pt x="824506" y="1743485"/>
                  </a:lnTo>
                  <a:lnTo>
                    <a:pt x="777323" y="1739657"/>
                  </a:lnTo>
                  <a:lnTo>
                    <a:pt x="730881" y="1733358"/>
                  </a:lnTo>
                  <a:lnTo>
                    <a:pt x="685245" y="1724655"/>
                  </a:lnTo>
                  <a:lnTo>
                    <a:pt x="640482" y="1713614"/>
                  </a:lnTo>
                  <a:lnTo>
                    <a:pt x="596660" y="1700302"/>
                  </a:lnTo>
                  <a:lnTo>
                    <a:pt x="553844" y="1684785"/>
                  </a:lnTo>
                  <a:lnTo>
                    <a:pt x="512101" y="1667129"/>
                  </a:lnTo>
                  <a:lnTo>
                    <a:pt x="471498" y="1647402"/>
                  </a:lnTo>
                  <a:lnTo>
                    <a:pt x="432101" y="1625670"/>
                  </a:lnTo>
                  <a:lnTo>
                    <a:pt x="393976" y="1601999"/>
                  </a:lnTo>
                  <a:lnTo>
                    <a:pt x="357192" y="1576456"/>
                  </a:lnTo>
                  <a:lnTo>
                    <a:pt x="321813" y="1549107"/>
                  </a:lnTo>
                  <a:lnTo>
                    <a:pt x="287907" y="1520019"/>
                  </a:lnTo>
                  <a:lnTo>
                    <a:pt x="255539" y="1489259"/>
                  </a:lnTo>
                  <a:lnTo>
                    <a:pt x="224778" y="1456892"/>
                  </a:lnTo>
                  <a:lnTo>
                    <a:pt x="195689" y="1422986"/>
                  </a:lnTo>
                  <a:lnTo>
                    <a:pt x="168339" y="1387606"/>
                  </a:lnTo>
                  <a:lnTo>
                    <a:pt x="142794" y="1350820"/>
                  </a:lnTo>
                  <a:lnTo>
                    <a:pt x="119121" y="1312694"/>
                  </a:lnTo>
                  <a:lnTo>
                    <a:pt x="97387" y="1273294"/>
                  </a:lnTo>
                  <a:lnTo>
                    <a:pt x="77657" y="1232688"/>
                  </a:lnTo>
                  <a:lnTo>
                    <a:pt x="60000" y="1190941"/>
                  </a:lnTo>
                  <a:lnTo>
                    <a:pt x="44481" y="1148119"/>
                  </a:lnTo>
                  <a:lnTo>
                    <a:pt x="31167" y="1104291"/>
                  </a:lnTo>
                  <a:lnTo>
                    <a:pt x="20124" y="1059521"/>
                  </a:lnTo>
                  <a:lnTo>
                    <a:pt x="11419" y="1013877"/>
                  </a:lnTo>
                  <a:lnTo>
                    <a:pt x="5119" y="967425"/>
                  </a:lnTo>
                  <a:lnTo>
                    <a:pt x="1291" y="920231"/>
                  </a:lnTo>
                  <a:lnTo>
                    <a:pt x="0" y="872363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57" name="object 25"/>
          <p:cNvSpPr/>
          <p:nvPr/>
        </p:nvSpPr>
        <p:spPr>
          <a:xfrm>
            <a:off x="2979000" y="3420360"/>
            <a:ext cx="117648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760" bIns="0" anchor="t">
            <a:spAutoFit/>
          </a:bodyPr>
          <a:p>
            <a:pPr marL="12600" indent="278640">
              <a:lnSpc>
                <a:spcPts val="1871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1800" spc="-12" strike="noStrike">
                <a:solidFill>
                  <a:srgbClr val="ffffff"/>
                </a:solidFill>
                <a:latin typeface="Arial"/>
                <a:ea typeface="DejaVu Sans"/>
              </a:rPr>
              <a:t>Ridge Regression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8" name="object 26" descr=""/>
          <p:cNvPicPr/>
          <p:nvPr/>
        </p:nvPicPr>
        <p:blipFill>
          <a:blip r:embed="rId6"/>
          <a:stretch/>
        </p:blipFill>
        <p:spPr>
          <a:xfrm>
            <a:off x="2211840" y="226908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59" name="object 27" descr=""/>
          <p:cNvPicPr/>
          <p:nvPr/>
        </p:nvPicPr>
        <p:blipFill>
          <a:blip r:embed="rId7"/>
          <a:stretch/>
        </p:blipFill>
        <p:spPr>
          <a:xfrm>
            <a:off x="1856520" y="226908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60" name="object 28" descr=""/>
          <p:cNvPicPr/>
          <p:nvPr/>
        </p:nvPicPr>
        <p:blipFill>
          <a:blip r:embed="rId8"/>
          <a:stretch/>
        </p:blipFill>
        <p:spPr>
          <a:xfrm>
            <a:off x="1500840" y="226908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61" name="object 29" descr=""/>
          <p:cNvPicPr/>
          <p:nvPr/>
        </p:nvPicPr>
        <p:blipFill>
          <a:blip r:embed="rId9"/>
          <a:stretch/>
        </p:blipFill>
        <p:spPr>
          <a:xfrm>
            <a:off x="1145520" y="226908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62" name="object 30" descr=""/>
          <p:cNvPicPr/>
          <p:nvPr/>
        </p:nvPicPr>
        <p:blipFill>
          <a:blip r:embed="rId10"/>
          <a:stretch/>
        </p:blipFill>
        <p:spPr>
          <a:xfrm>
            <a:off x="789480" y="226908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63" name="object 31" descr=""/>
          <p:cNvPicPr/>
          <p:nvPr/>
        </p:nvPicPr>
        <p:blipFill>
          <a:blip r:embed="rId11"/>
          <a:stretch/>
        </p:blipFill>
        <p:spPr>
          <a:xfrm>
            <a:off x="434160" y="2269080"/>
            <a:ext cx="196920" cy="196560"/>
          </a:xfrm>
          <a:prstGeom prst="rect">
            <a:avLst/>
          </a:prstGeom>
          <a:ln w="0">
            <a:noFill/>
          </a:ln>
        </p:spPr>
      </p:pic>
      <p:grpSp>
        <p:nvGrpSpPr>
          <p:cNvPr id="364" name="object 32"/>
          <p:cNvGrpSpPr/>
          <p:nvPr/>
        </p:nvGrpSpPr>
        <p:grpSpPr>
          <a:xfrm>
            <a:off x="2210040" y="2382480"/>
            <a:ext cx="909000" cy="2815200"/>
            <a:chOff x="2210040" y="2382480"/>
            <a:chExt cx="909000" cy="2815200"/>
          </a:xfrm>
        </p:grpSpPr>
        <p:sp>
          <p:nvSpPr>
            <p:cNvPr id="365" name="object 33"/>
            <p:cNvSpPr/>
            <p:nvPr/>
          </p:nvSpPr>
          <p:spPr>
            <a:xfrm>
              <a:off x="2775600" y="25567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5">
                  <a:moveTo>
                    <a:pt x="172466" y="0"/>
                  </a:moveTo>
                  <a:lnTo>
                    <a:pt x="126617" y="6151"/>
                  </a:lnTo>
                  <a:lnTo>
                    <a:pt x="85419" y="23513"/>
                  </a:lnTo>
                  <a:lnTo>
                    <a:pt x="50514" y="50450"/>
                  </a:lnTo>
                  <a:lnTo>
                    <a:pt x="23546" y="85325"/>
                  </a:lnTo>
                  <a:lnTo>
                    <a:pt x="6160" y="126500"/>
                  </a:lnTo>
                  <a:lnTo>
                    <a:pt x="0" y="172338"/>
                  </a:lnTo>
                  <a:lnTo>
                    <a:pt x="6160" y="218133"/>
                  </a:lnTo>
                  <a:lnTo>
                    <a:pt x="23546" y="259296"/>
                  </a:lnTo>
                  <a:lnTo>
                    <a:pt x="50514" y="294179"/>
                  </a:lnTo>
                  <a:lnTo>
                    <a:pt x="85419" y="321135"/>
                  </a:lnTo>
                  <a:lnTo>
                    <a:pt x="126617" y="338517"/>
                  </a:lnTo>
                  <a:lnTo>
                    <a:pt x="172466" y="344677"/>
                  </a:lnTo>
                  <a:lnTo>
                    <a:pt x="218314" y="338517"/>
                  </a:lnTo>
                  <a:lnTo>
                    <a:pt x="259512" y="321135"/>
                  </a:lnTo>
                  <a:lnTo>
                    <a:pt x="294417" y="294179"/>
                  </a:lnTo>
                  <a:lnTo>
                    <a:pt x="321385" y="259296"/>
                  </a:lnTo>
                  <a:lnTo>
                    <a:pt x="338771" y="218133"/>
                  </a:lnTo>
                  <a:lnTo>
                    <a:pt x="344931" y="172338"/>
                  </a:lnTo>
                  <a:lnTo>
                    <a:pt x="338771" y="126500"/>
                  </a:lnTo>
                  <a:lnTo>
                    <a:pt x="321385" y="85325"/>
                  </a:lnTo>
                  <a:lnTo>
                    <a:pt x="294417" y="50450"/>
                  </a:lnTo>
                  <a:lnTo>
                    <a:pt x="259512" y="23513"/>
                  </a:lnTo>
                  <a:lnTo>
                    <a:pt x="218314" y="6151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6" name="object 34"/>
            <p:cNvSpPr/>
            <p:nvPr/>
          </p:nvSpPr>
          <p:spPr>
            <a:xfrm>
              <a:off x="2775600" y="25567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5">
                  <a:moveTo>
                    <a:pt x="0" y="172338"/>
                  </a:moveTo>
                  <a:lnTo>
                    <a:pt x="6160" y="126500"/>
                  </a:lnTo>
                  <a:lnTo>
                    <a:pt x="23546" y="85325"/>
                  </a:lnTo>
                  <a:lnTo>
                    <a:pt x="50514" y="50450"/>
                  </a:lnTo>
                  <a:lnTo>
                    <a:pt x="85419" y="23513"/>
                  </a:lnTo>
                  <a:lnTo>
                    <a:pt x="126617" y="6151"/>
                  </a:lnTo>
                  <a:lnTo>
                    <a:pt x="172466" y="0"/>
                  </a:lnTo>
                  <a:lnTo>
                    <a:pt x="218314" y="6151"/>
                  </a:lnTo>
                  <a:lnTo>
                    <a:pt x="259512" y="23513"/>
                  </a:lnTo>
                  <a:lnTo>
                    <a:pt x="294417" y="50450"/>
                  </a:lnTo>
                  <a:lnTo>
                    <a:pt x="321385" y="85325"/>
                  </a:lnTo>
                  <a:lnTo>
                    <a:pt x="338771" y="126500"/>
                  </a:lnTo>
                  <a:lnTo>
                    <a:pt x="344931" y="172338"/>
                  </a:lnTo>
                  <a:lnTo>
                    <a:pt x="338771" y="218133"/>
                  </a:lnTo>
                  <a:lnTo>
                    <a:pt x="321385" y="259296"/>
                  </a:lnTo>
                  <a:lnTo>
                    <a:pt x="294417" y="294179"/>
                  </a:lnTo>
                  <a:lnTo>
                    <a:pt x="259512" y="321135"/>
                  </a:lnTo>
                  <a:lnTo>
                    <a:pt x="218314" y="338517"/>
                  </a:lnTo>
                  <a:lnTo>
                    <a:pt x="172466" y="344677"/>
                  </a:lnTo>
                  <a:lnTo>
                    <a:pt x="126617" y="338517"/>
                  </a:lnTo>
                  <a:lnTo>
                    <a:pt x="85419" y="321135"/>
                  </a:lnTo>
                  <a:lnTo>
                    <a:pt x="50514" y="294179"/>
                  </a:lnTo>
                  <a:lnTo>
                    <a:pt x="23546" y="259296"/>
                  </a:lnTo>
                  <a:lnTo>
                    <a:pt x="6160" y="218133"/>
                  </a:lnTo>
                  <a:lnTo>
                    <a:pt x="0" y="172338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367" name="object 35" descr=""/>
            <p:cNvPicPr/>
            <p:nvPr/>
          </p:nvPicPr>
          <p:blipFill>
            <a:blip r:embed="rId12"/>
            <a:stretch/>
          </p:blipFill>
          <p:spPr>
            <a:xfrm>
              <a:off x="2567520" y="2382480"/>
              <a:ext cx="196920" cy="19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68" name="object 36"/>
            <p:cNvSpPr/>
            <p:nvPr/>
          </p:nvSpPr>
          <p:spPr>
            <a:xfrm>
              <a:off x="2320560" y="30967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51"/>
                  </a:lnTo>
                  <a:lnTo>
                    <a:pt x="85419" y="23513"/>
                  </a:lnTo>
                  <a:lnTo>
                    <a:pt x="50514" y="50450"/>
                  </a:lnTo>
                  <a:lnTo>
                    <a:pt x="23546" y="85325"/>
                  </a:lnTo>
                  <a:lnTo>
                    <a:pt x="6160" y="126500"/>
                  </a:lnTo>
                  <a:lnTo>
                    <a:pt x="0" y="172338"/>
                  </a:lnTo>
                  <a:lnTo>
                    <a:pt x="6160" y="218133"/>
                  </a:lnTo>
                  <a:lnTo>
                    <a:pt x="23546" y="259296"/>
                  </a:lnTo>
                  <a:lnTo>
                    <a:pt x="50514" y="294179"/>
                  </a:lnTo>
                  <a:lnTo>
                    <a:pt x="85419" y="321135"/>
                  </a:lnTo>
                  <a:lnTo>
                    <a:pt x="126617" y="338517"/>
                  </a:lnTo>
                  <a:lnTo>
                    <a:pt x="172466" y="344677"/>
                  </a:lnTo>
                  <a:lnTo>
                    <a:pt x="218323" y="338517"/>
                  </a:lnTo>
                  <a:lnTo>
                    <a:pt x="259545" y="321135"/>
                  </a:lnTo>
                  <a:lnTo>
                    <a:pt x="294481" y="294179"/>
                  </a:lnTo>
                  <a:lnTo>
                    <a:pt x="321479" y="259296"/>
                  </a:lnTo>
                  <a:lnTo>
                    <a:pt x="338888" y="218133"/>
                  </a:lnTo>
                  <a:lnTo>
                    <a:pt x="345059" y="172338"/>
                  </a:lnTo>
                  <a:lnTo>
                    <a:pt x="338888" y="126500"/>
                  </a:lnTo>
                  <a:lnTo>
                    <a:pt x="321479" y="85325"/>
                  </a:lnTo>
                  <a:lnTo>
                    <a:pt x="294481" y="50450"/>
                  </a:lnTo>
                  <a:lnTo>
                    <a:pt x="259545" y="23513"/>
                  </a:lnTo>
                  <a:lnTo>
                    <a:pt x="218323" y="6151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9" name="object 37"/>
            <p:cNvSpPr/>
            <p:nvPr/>
          </p:nvSpPr>
          <p:spPr>
            <a:xfrm>
              <a:off x="2320560" y="30967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38"/>
                  </a:moveTo>
                  <a:lnTo>
                    <a:pt x="6160" y="126500"/>
                  </a:lnTo>
                  <a:lnTo>
                    <a:pt x="23546" y="85325"/>
                  </a:lnTo>
                  <a:lnTo>
                    <a:pt x="50514" y="50450"/>
                  </a:lnTo>
                  <a:lnTo>
                    <a:pt x="85419" y="23513"/>
                  </a:lnTo>
                  <a:lnTo>
                    <a:pt x="126617" y="6151"/>
                  </a:lnTo>
                  <a:lnTo>
                    <a:pt x="172466" y="0"/>
                  </a:lnTo>
                  <a:lnTo>
                    <a:pt x="218323" y="6151"/>
                  </a:lnTo>
                  <a:lnTo>
                    <a:pt x="259545" y="23513"/>
                  </a:lnTo>
                  <a:lnTo>
                    <a:pt x="294481" y="50450"/>
                  </a:lnTo>
                  <a:lnTo>
                    <a:pt x="321479" y="85325"/>
                  </a:lnTo>
                  <a:lnTo>
                    <a:pt x="338888" y="126500"/>
                  </a:lnTo>
                  <a:lnTo>
                    <a:pt x="345059" y="172338"/>
                  </a:lnTo>
                  <a:lnTo>
                    <a:pt x="338888" y="218133"/>
                  </a:lnTo>
                  <a:lnTo>
                    <a:pt x="321479" y="259296"/>
                  </a:lnTo>
                  <a:lnTo>
                    <a:pt x="294481" y="294179"/>
                  </a:lnTo>
                  <a:lnTo>
                    <a:pt x="259545" y="321135"/>
                  </a:lnTo>
                  <a:lnTo>
                    <a:pt x="218323" y="338517"/>
                  </a:lnTo>
                  <a:lnTo>
                    <a:pt x="172466" y="344677"/>
                  </a:lnTo>
                  <a:lnTo>
                    <a:pt x="126617" y="338517"/>
                  </a:lnTo>
                  <a:lnTo>
                    <a:pt x="85419" y="321135"/>
                  </a:lnTo>
                  <a:lnTo>
                    <a:pt x="50514" y="294179"/>
                  </a:lnTo>
                  <a:lnTo>
                    <a:pt x="23546" y="259296"/>
                  </a:lnTo>
                  <a:lnTo>
                    <a:pt x="6160" y="218133"/>
                  </a:lnTo>
                  <a:lnTo>
                    <a:pt x="0" y="172338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0" name="object 38"/>
            <p:cNvSpPr/>
            <p:nvPr/>
          </p:nvSpPr>
          <p:spPr>
            <a:xfrm>
              <a:off x="2320560" y="392508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60"/>
                  </a:lnTo>
                  <a:lnTo>
                    <a:pt x="85419" y="23546"/>
                  </a:lnTo>
                  <a:lnTo>
                    <a:pt x="50514" y="50514"/>
                  </a:lnTo>
                  <a:lnTo>
                    <a:pt x="23546" y="85419"/>
                  </a:lnTo>
                  <a:lnTo>
                    <a:pt x="6160" y="126617"/>
                  </a:lnTo>
                  <a:lnTo>
                    <a:pt x="0" y="172465"/>
                  </a:lnTo>
                  <a:lnTo>
                    <a:pt x="6160" y="218260"/>
                  </a:lnTo>
                  <a:lnTo>
                    <a:pt x="23546" y="259423"/>
                  </a:lnTo>
                  <a:lnTo>
                    <a:pt x="50514" y="294306"/>
                  </a:lnTo>
                  <a:lnTo>
                    <a:pt x="85419" y="321262"/>
                  </a:lnTo>
                  <a:lnTo>
                    <a:pt x="126617" y="338644"/>
                  </a:lnTo>
                  <a:lnTo>
                    <a:pt x="172466" y="344804"/>
                  </a:lnTo>
                  <a:lnTo>
                    <a:pt x="218323" y="338644"/>
                  </a:lnTo>
                  <a:lnTo>
                    <a:pt x="259545" y="321262"/>
                  </a:lnTo>
                  <a:lnTo>
                    <a:pt x="294481" y="294306"/>
                  </a:lnTo>
                  <a:lnTo>
                    <a:pt x="321479" y="259423"/>
                  </a:lnTo>
                  <a:lnTo>
                    <a:pt x="338888" y="218260"/>
                  </a:lnTo>
                  <a:lnTo>
                    <a:pt x="345059" y="172465"/>
                  </a:lnTo>
                  <a:lnTo>
                    <a:pt x="338888" y="126617"/>
                  </a:lnTo>
                  <a:lnTo>
                    <a:pt x="321479" y="85419"/>
                  </a:lnTo>
                  <a:lnTo>
                    <a:pt x="294481" y="50514"/>
                  </a:lnTo>
                  <a:lnTo>
                    <a:pt x="259545" y="23546"/>
                  </a:lnTo>
                  <a:lnTo>
                    <a:pt x="218323" y="6160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1" name="object 39"/>
            <p:cNvSpPr/>
            <p:nvPr/>
          </p:nvSpPr>
          <p:spPr>
            <a:xfrm>
              <a:off x="2320560" y="392508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465"/>
                  </a:moveTo>
                  <a:lnTo>
                    <a:pt x="6160" y="126617"/>
                  </a:lnTo>
                  <a:lnTo>
                    <a:pt x="23546" y="85419"/>
                  </a:lnTo>
                  <a:lnTo>
                    <a:pt x="50514" y="50514"/>
                  </a:lnTo>
                  <a:lnTo>
                    <a:pt x="85419" y="23546"/>
                  </a:lnTo>
                  <a:lnTo>
                    <a:pt x="126617" y="6160"/>
                  </a:lnTo>
                  <a:lnTo>
                    <a:pt x="172466" y="0"/>
                  </a:lnTo>
                  <a:lnTo>
                    <a:pt x="218323" y="6160"/>
                  </a:lnTo>
                  <a:lnTo>
                    <a:pt x="259545" y="23546"/>
                  </a:lnTo>
                  <a:lnTo>
                    <a:pt x="294481" y="50514"/>
                  </a:lnTo>
                  <a:lnTo>
                    <a:pt x="321479" y="85419"/>
                  </a:lnTo>
                  <a:lnTo>
                    <a:pt x="338888" y="126617"/>
                  </a:lnTo>
                  <a:lnTo>
                    <a:pt x="345059" y="172465"/>
                  </a:lnTo>
                  <a:lnTo>
                    <a:pt x="338888" y="218260"/>
                  </a:lnTo>
                  <a:lnTo>
                    <a:pt x="321479" y="259423"/>
                  </a:lnTo>
                  <a:lnTo>
                    <a:pt x="294481" y="294306"/>
                  </a:lnTo>
                  <a:lnTo>
                    <a:pt x="259545" y="321262"/>
                  </a:lnTo>
                  <a:lnTo>
                    <a:pt x="218323" y="338644"/>
                  </a:lnTo>
                  <a:lnTo>
                    <a:pt x="172466" y="344804"/>
                  </a:lnTo>
                  <a:lnTo>
                    <a:pt x="126617" y="338644"/>
                  </a:lnTo>
                  <a:lnTo>
                    <a:pt x="85419" y="321262"/>
                  </a:lnTo>
                  <a:lnTo>
                    <a:pt x="50514" y="294306"/>
                  </a:lnTo>
                  <a:lnTo>
                    <a:pt x="23546" y="259423"/>
                  </a:lnTo>
                  <a:lnTo>
                    <a:pt x="6160" y="218260"/>
                  </a:lnTo>
                  <a:lnTo>
                    <a:pt x="0" y="172465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2" name="object 40"/>
            <p:cNvSpPr/>
            <p:nvPr/>
          </p:nvSpPr>
          <p:spPr>
            <a:xfrm>
              <a:off x="2775600" y="45205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56"/>
                  </a:lnTo>
                  <a:lnTo>
                    <a:pt x="85419" y="23531"/>
                  </a:lnTo>
                  <a:lnTo>
                    <a:pt x="50514" y="50480"/>
                  </a:lnTo>
                  <a:lnTo>
                    <a:pt x="23546" y="85362"/>
                  </a:lnTo>
                  <a:lnTo>
                    <a:pt x="6160" y="126534"/>
                  </a:lnTo>
                  <a:lnTo>
                    <a:pt x="0" y="172351"/>
                  </a:lnTo>
                  <a:lnTo>
                    <a:pt x="6160" y="218164"/>
                  </a:lnTo>
                  <a:lnTo>
                    <a:pt x="23546" y="259331"/>
                  </a:lnTo>
                  <a:lnTo>
                    <a:pt x="50514" y="294211"/>
                  </a:lnTo>
                  <a:lnTo>
                    <a:pt x="85419" y="321159"/>
                  </a:lnTo>
                  <a:lnTo>
                    <a:pt x="126617" y="338534"/>
                  </a:lnTo>
                  <a:lnTo>
                    <a:pt x="172466" y="344690"/>
                  </a:lnTo>
                  <a:lnTo>
                    <a:pt x="218314" y="338534"/>
                  </a:lnTo>
                  <a:lnTo>
                    <a:pt x="259512" y="321159"/>
                  </a:lnTo>
                  <a:lnTo>
                    <a:pt x="294417" y="294211"/>
                  </a:lnTo>
                  <a:lnTo>
                    <a:pt x="321385" y="259331"/>
                  </a:lnTo>
                  <a:lnTo>
                    <a:pt x="338771" y="218164"/>
                  </a:lnTo>
                  <a:lnTo>
                    <a:pt x="344931" y="172351"/>
                  </a:lnTo>
                  <a:lnTo>
                    <a:pt x="338771" y="126534"/>
                  </a:lnTo>
                  <a:lnTo>
                    <a:pt x="321385" y="85362"/>
                  </a:lnTo>
                  <a:lnTo>
                    <a:pt x="294417" y="50480"/>
                  </a:lnTo>
                  <a:lnTo>
                    <a:pt x="259512" y="23531"/>
                  </a:lnTo>
                  <a:lnTo>
                    <a:pt x="218314" y="6156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3" name="object 41"/>
            <p:cNvSpPr/>
            <p:nvPr/>
          </p:nvSpPr>
          <p:spPr>
            <a:xfrm>
              <a:off x="2775600" y="45205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51"/>
                  </a:moveTo>
                  <a:lnTo>
                    <a:pt x="6160" y="126534"/>
                  </a:lnTo>
                  <a:lnTo>
                    <a:pt x="23546" y="85362"/>
                  </a:lnTo>
                  <a:lnTo>
                    <a:pt x="50514" y="50480"/>
                  </a:lnTo>
                  <a:lnTo>
                    <a:pt x="85419" y="23531"/>
                  </a:lnTo>
                  <a:lnTo>
                    <a:pt x="126617" y="6156"/>
                  </a:lnTo>
                  <a:lnTo>
                    <a:pt x="172466" y="0"/>
                  </a:lnTo>
                  <a:lnTo>
                    <a:pt x="218314" y="6156"/>
                  </a:lnTo>
                  <a:lnTo>
                    <a:pt x="259512" y="23531"/>
                  </a:lnTo>
                  <a:lnTo>
                    <a:pt x="294417" y="50480"/>
                  </a:lnTo>
                  <a:lnTo>
                    <a:pt x="321385" y="85362"/>
                  </a:lnTo>
                  <a:lnTo>
                    <a:pt x="338771" y="126534"/>
                  </a:lnTo>
                  <a:lnTo>
                    <a:pt x="344931" y="172351"/>
                  </a:lnTo>
                  <a:lnTo>
                    <a:pt x="338771" y="218164"/>
                  </a:lnTo>
                  <a:lnTo>
                    <a:pt x="321385" y="259331"/>
                  </a:lnTo>
                  <a:lnTo>
                    <a:pt x="294417" y="294211"/>
                  </a:lnTo>
                  <a:lnTo>
                    <a:pt x="259512" y="321159"/>
                  </a:lnTo>
                  <a:lnTo>
                    <a:pt x="218314" y="338534"/>
                  </a:lnTo>
                  <a:lnTo>
                    <a:pt x="172466" y="344690"/>
                  </a:lnTo>
                  <a:lnTo>
                    <a:pt x="126617" y="338534"/>
                  </a:lnTo>
                  <a:lnTo>
                    <a:pt x="85419" y="321159"/>
                  </a:lnTo>
                  <a:lnTo>
                    <a:pt x="50514" y="294211"/>
                  </a:lnTo>
                  <a:lnTo>
                    <a:pt x="23546" y="259331"/>
                  </a:lnTo>
                  <a:lnTo>
                    <a:pt x="6160" y="218164"/>
                  </a:lnTo>
                  <a:lnTo>
                    <a:pt x="0" y="172351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374" name="object 42" descr=""/>
            <p:cNvPicPr/>
            <p:nvPr/>
          </p:nvPicPr>
          <p:blipFill>
            <a:blip r:embed="rId13"/>
            <a:stretch/>
          </p:blipFill>
          <p:spPr>
            <a:xfrm>
              <a:off x="2564640" y="4838040"/>
              <a:ext cx="196920" cy="196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75" name="object 43" descr=""/>
            <p:cNvPicPr/>
            <p:nvPr/>
          </p:nvPicPr>
          <p:blipFill>
            <a:blip r:embed="rId14"/>
            <a:stretch/>
          </p:blipFill>
          <p:spPr>
            <a:xfrm>
              <a:off x="2210040" y="5000760"/>
              <a:ext cx="196560" cy="196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76" name="object 44"/>
          <p:cNvSpPr/>
          <p:nvPr/>
        </p:nvSpPr>
        <p:spPr>
          <a:xfrm>
            <a:off x="432360" y="2029680"/>
            <a:ext cx="1817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Elastic</a:t>
            </a:r>
            <a:r>
              <a:rPr b="1" lang="fr-FR" sz="16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26" strike="noStrike">
                <a:solidFill>
                  <a:srgbClr val="292934"/>
                </a:solidFill>
                <a:latin typeface="Arial"/>
                <a:ea typeface="DejaVu Sans"/>
              </a:rPr>
              <a:t>Net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7" name="object 45" descr=""/>
          <p:cNvPicPr/>
          <p:nvPr/>
        </p:nvPicPr>
        <p:blipFill>
          <a:blip r:embed="rId15"/>
          <a:stretch/>
        </p:blipFill>
        <p:spPr>
          <a:xfrm>
            <a:off x="2021760" y="315432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78" name="object 46" descr=""/>
          <p:cNvPicPr/>
          <p:nvPr/>
        </p:nvPicPr>
        <p:blipFill>
          <a:blip r:embed="rId16"/>
          <a:stretch/>
        </p:blipFill>
        <p:spPr>
          <a:xfrm>
            <a:off x="1693440" y="315432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79" name="object 47" descr=""/>
          <p:cNvPicPr/>
          <p:nvPr/>
        </p:nvPicPr>
        <p:blipFill>
          <a:blip r:embed="rId17"/>
          <a:stretch/>
        </p:blipFill>
        <p:spPr>
          <a:xfrm>
            <a:off x="1366200" y="315432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80" name="object 48" descr=""/>
          <p:cNvPicPr/>
          <p:nvPr/>
        </p:nvPicPr>
        <p:blipFill>
          <a:blip r:embed="rId18"/>
          <a:stretch/>
        </p:blipFill>
        <p:spPr>
          <a:xfrm>
            <a:off x="1038960" y="315432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81" name="object 49" descr=""/>
          <p:cNvPicPr/>
          <p:nvPr/>
        </p:nvPicPr>
        <p:blipFill>
          <a:blip r:embed="rId19"/>
          <a:stretch/>
        </p:blipFill>
        <p:spPr>
          <a:xfrm>
            <a:off x="711000" y="315432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82" name="object 50" descr=""/>
          <p:cNvPicPr/>
          <p:nvPr/>
        </p:nvPicPr>
        <p:blipFill>
          <a:blip r:embed="rId20"/>
          <a:stretch/>
        </p:blipFill>
        <p:spPr>
          <a:xfrm>
            <a:off x="383400" y="3154320"/>
            <a:ext cx="196920" cy="196560"/>
          </a:xfrm>
          <a:prstGeom prst="rect">
            <a:avLst/>
          </a:prstGeom>
          <a:ln w="0">
            <a:noFill/>
          </a:ln>
        </p:spPr>
      </p:pic>
      <p:sp>
        <p:nvSpPr>
          <p:cNvPr id="383" name="object 51"/>
          <p:cNvSpPr/>
          <p:nvPr/>
        </p:nvSpPr>
        <p:spPr>
          <a:xfrm>
            <a:off x="383040" y="2916360"/>
            <a:ext cx="119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26" strike="noStrike">
                <a:solidFill>
                  <a:srgbClr val="292934"/>
                </a:solidFill>
                <a:latin typeface="Arial"/>
                <a:ea typeface="DejaVu Sans"/>
              </a:rPr>
              <a:t>SVR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4" name="object 52" descr=""/>
          <p:cNvPicPr/>
          <p:nvPr/>
        </p:nvPicPr>
        <p:blipFill>
          <a:blip r:embed="rId21"/>
          <a:stretch/>
        </p:blipFill>
        <p:spPr>
          <a:xfrm>
            <a:off x="2021760" y="411696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85" name="object 53" descr=""/>
          <p:cNvPicPr/>
          <p:nvPr/>
        </p:nvPicPr>
        <p:blipFill>
          <a:blip r:embed="rId22"/>
          <a:stretch/>
        </p:blipFill>
        <p:spPr>
          <a:xfrm>
            <a:off x="1693440" y="411696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86" name="object 54" descr=""/>
          <p:cNvPicPr/>
          <p:nvPr/>
        </p:nvPicPr>
        <p:blipFill>
          <a:blip r:embed="rId23"/>
          <a:stretch/>
        </p:blipFill>
        <p:spPr>
          <a:xfrm>
            <a:off x="1366200" y="411696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87" name="object 55" descr=""/>
          <p:cNvPicPr/>
          <p:nvPr/>
        </p:nvPicPr>
        <p:blipFill>
          <a:blip r:embed="rId24"/>
          <a:stretch/>
        </p:blipFill>
        <p:spPr>
          <a:xfrm>
            <a:off x="1038960" y="411696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88" name="object 56" descr=""/>
          <p:cNvPicPr/>
          <p:nvPr/>
        </p:nvPicPr>
        <p:blipFill>
          <a:blip r:embed="rId25"/>
          <a:stretch/>
        </p:blipFill>
        <p:spPr>
          <a:xfrm>
            <a:off x="711000" y="411696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89" name="object 57" descr=""/>
          <p:cNvPicPr/>
          <p:nvPr/>
        </p:nvPicPr>
        <p:blipFill>
          <a:blip r:embed="rId26"/>
          <a:stretch/>
        </p:blipFill>
        <p:spPr>
          <a:xfrm>
            <a:off x="383400" y="4116960"/>
            <a:ext cx="196920" cy="196560"/>
          </a:xfrm>
          <a:prstGeom prst="rect">
            <a:avLst/>
          </a:prstGeom>
          <a:ln w="0">
            <a:noFill/>
          </a:ln>
        </p:spPr>
      </p:pic>
      <p:sp>
        <p:nvSpPr>
          <p:cNvPr id="390" name="object 58"/>
          <p:cNvSpPr/>
          <p:nvPr/>
        </p:nvSpPr>
        <p:spPr>
          <a:xfrm>
            <a:off x="383040" y="3666960"/>
            <a:ext cx="170424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12600">
              <a:lnSpc>
                <a:spcPts val="1661"/>
              </a:lnSpc>
              <a:spcBef>
                <a:spcPts val="36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Random </a:t>
            </a: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Forest</a:t>
            </a:r>
            <a:r>
              <a:rPr b="1" lang="fr-FR" sz="16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Regressor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1" name="object 59" descr=""/>
          <p:cNvPicPr/>
          <p:nvPr/>
        </p:nvPicPr>
        <p:blipFill>
          <a:blip r:embed="rId27"/>
          <a:stretch/>
        </p:blipFill>
        <p:spPr>
          <a:xfrm>
            <a:off x="1854360" y="5000760"/>
            <a:ext cx="196920" cy="196920"/>
          </a:xfrm>
          <a:prstGeom prst="rect">
            <a:avLst/>
          </a:prstGeom>
          <a:ln w="0">
            <a:noFill/>
          </a:ln>
        </p:spPr>
      </p:pic>
      <p:pic>
        <p:nvPicPr>
          <p:cNvPr id="392" name="object 60" descr=""/>
          <p:cNvPicPr/>
          <p:nvPr/>
        </p:nvPicPr>
        <p:blipFill>
          <a:blip r:embed="rId28"/>
          <a:stretch/>
        </p:blipFill>
        <p:spPr>
          <a:xfrm>
            <a:off x="1499760" y="5000760"/>
            <a:ext cx="196560" cy="196920"/>
          </a:xfrm>
          <a:prstGeom prst="rect">
            <a:avLst/>
          </a:prstGeom>
          <a:ln w="0">
            <a:noFill/>
          </a:ln>
        </p:spPr>
      </p:pic>
      <p:pic>
        <p:nvPicPr>
          <p:cNvPr id="393" name="object 61" descr=""/>
          <p:cNvPicPr/>
          <p:nvPr/>
        </p:nvPicPr>
        <p:blipFill>
          <a:blip r:embed="rId29"/>
          <a:stretch/>
        </p:blipFill>
        <p:spPr>
          <a:xfrm>
            <a:off x="1144800" y="5000760"/>
            <a:ext cx="196920" cy="196920"/>
          </a:xfrm>
          <a:prstGeom prst="rect">
            <a:avLst/>
          </a:prstGeom>
          <a:ln w="0">
            <a:noFill/>
          </a:ln>
        </p:spPr>
      </p:pic>
      <p:pic>
        <p:nvPicPr>
          <p:cNvPr id="394" name="object 62" descr=""/>
          <p:cNvPicPr/>
          <p:nvPr/>
        </p:nvPicPr>
        <p:blipFill>
          <a:blip r:embed="rId30"/>
          <a:stretch/>
        </p:blipFill>
        <p:spPr>
          <a:xfrm>
            <a:off x="789480" y="5000760"/>
            <a:ext cx="196920" cy="196920"/>
          </a:xfrm>
          <a:prstGeom prst="rect">
            <a:avLst/>
          </a:prstGeom>
          <a:ln w="0">
            <a:noFill/>
          </a:ln>
        </p:spPr>
      </p:pic>
      <p:pic>
        <p:nvPicPr>
          <p:cNvPr id="395" name="object 63" descr=""/>
          <p:cNvPicPr/>
          <p:nvPr/>
        </p:nvPicPr>
        <p:blipFill>
          <a:blip r:embed="rId31"/>
          <a:stretch/>
        </p:blipFill>
        <p:spPr>
          <a:xfrm>
            <a:off x="434880" y="5000760"/>
            <a:ext cx="196920" cy="196920"/>
          </a:xfrm>
          <a:prstGeom prst="rect">
            <a:avLst/>
          </a:prstGeom>
          <a:ln w="0">
            <a:noFill/>
          </a:ln>
        </p:spPr>
      </p:pic>
      <p:sp>
        <p:nvSpPr>
          <p:cNvPr id="396" name="object 64"/>
          <p:cNvSpPr/>
          <p:nvPr/>
        </p:nvSpPr>
        <p:spPr>
          <a:xfrm>
            <a:off x="432360" y="4755960"/>
            <a:ext cx="1791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XGBOOST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object 65"/>
          <p:cNvSpPr/>
          <p:nvPr/>
        </p:nvSpPr>
        <p:spPr>
          <a:xfrm>
            <a:off x="7020360" y="3073680"/>
            <a:ext cx="1438200" cy="894960"/>
          </a:xfrm>
          <a:prstGeom prst="rect">
            <a:avLst/>
          </a:prstGeom>
          <a:solidFill>
            <a:srgbClr val="92a199"/>
          </a:solidFill>
          <a:ln w="26424">
            <a:solidFill>
              <a:srgbClr val="6b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960" bIns="0" anchor="t">
            <a:spAutoFit/>
          </a:bodyPr>
          <a:p>
            <a:pPr>
              <a:lnSpc>
                <a:spcPct val="100000"/>
              </a:lnSpc>
              <a:spcBef>
                <a:spcPts val="31"/>
              </a:spcBef>
            </a:pPr>
            <a:endParaRPr b="0" lang="fr-FR" sz="2250" spc="-1" strike="noStrike">
              <a:solidFill>
                <a:srgbClr val="000000"/>
              </a:solidFill>
              <a:latin typeface="Arial"/>
            </a:endParaRPr>
          </a:p>
          <a:p>
            <a:pPr marL="448200" indent="-23508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2" strike="noStrike">
                <a:solidFill>
                  <a:srgbClr val="ffffff"/>
                </a:solidFill>
                <a:latin typeface="Arial"/>
                <a:ea typeface="DejaVu Sans"/>
              </a:rPr>
              <a:t>Prédiction finale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object 66"/>
          <p:cNvSpPr/>
          <p:nvPr/>
        </p:nvSpPr>
        <p:spPr>
          <a:xfrm>
            <a:off x="6668280" y="4397760"/>
            <a:ext cx="2111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RMSE_test=</a:t>
            </a:r>
            <a:r>
              <a:rPr b="1" lang="fr-FR" sz="1800" spc="-12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9" name="object 67" descr=""/>
          <p:cNvPicPr/>
          <p:nvPr/>
        </p:nvPicPr>
        <p:blipFill>
          <a:blip r:embed="rId32"/>
          <a:stretch/>
        </p:blipFill>
        <p:spPr>
          <a:xfrm>
            <a:off x="6408000" y="1105920"/>
            <a:ext cx="2662200" cy="185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2057760" y="2264400"/>
            <a:ext cx="5115960" cy="2204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90108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800" spc="-72" strike="noStrike">
                <a:solidFill>
                  <a:srgbClr val="f3f1dc"/>
                </a:solidFill>
                <a:latin typeface="Arial"/>
              </a:rPr>
              <a:t>MERCI</a:t>
            </a:r>
            <a:r>
              <a:rPr b="0" lang="fr-FR" sz="4800" spc="-27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</a:rPr>
              <a:t>DE</a:t>
            </a:r>
            <a:r>
              <a:rPr b="0" lang="fr-FR" sz="4800" spc="-287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80" strike="noStrike">
                <a:solidFill>
                  <a:srgbClr val="f3f1dc"/>
                </a:solidFill>
                <a:latin typeface="Arial"/>
              </a:rPr>
              <a:t>VOTRE </a:t>
            </a:r>
            <a:r>
              <a:rPr b="0" lang="fr-FR" sz="4800" spc="-32" strike="noStrike">
                <a:solidFill>
                  <a:srgbClr val="f3f1dc"/>
                </a:solidFill>
                <a:latin typeface="Arial"/>
              </a:rPr>
              <a:t>ATTENTION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object 3"/>
          <p:cNvSpPr/>
          <p:nvPr/>
        </p:nvSpPr>
        <p:spPr>
          <a:xfrm>
            <a:off x="7700040" y="2700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21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6737</TotalTime>
  <Application>LibreOffice/7.5.1.2$Windows_X86_64 LibreOffice_project/fcbaee479e84c6cd81291587d2ee68cba099e129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2023-05-08T09:14:09Z</dcterms:created>
  <dc:creator>Vincent Koussouros</dc:creator>
  <dc:description/>
  <dc:language>fr-FR</dc:language>
  <cp:lastModifiedBy/>
  <dcterms:modified xsi:type="dcterms:W3CDTF">2023-06-27T15:02:32Z</dcterms:modified>
  <cp:revision>11</cp:revision>
  <dc:subject/>
  <dc:title>Projet 4 – Anticipez les besoins en consommation électrique de bâtiments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2023-05-08T00:00:00Z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Microsoft® PowerPoint® 2010</vt:lpwstr>
  </property>
</Properties>
</file>